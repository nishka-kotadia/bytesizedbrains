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Overlock"/>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g/543FkZaIAwJI5BBhAfX19PI5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295F5B6-B17B-49A5-8B2D-4E18F70E88C2}">
  <a:tblStyle styleId="{1295F5B6-B17B-49A5-8B2D-4E18F70E88C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verlock-regular.fntdata"/><Relationship Id="rId14" Type="http://schemas.openxmlformats.org/officeDocument/2006/relationships/slide" Target="slides/slide9.xml"/><Relationship Id="rId17" Type="http://schemas.openxmlformats.org/officeDocument/2006/relationships/font" Target="fonts/Overlock-italic.fntdata"/><Relationship Id="rId16" Type="http://schemas.openxmlformats.org/officeDocument/2006/relationships/font" Target="fonts/Overlock-bold.fntdata"/><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font" Target="fonts/Overlock-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1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1"/>
          <p:cNvSpPr/>
          <p:nvPr>
            <p:ph idx="2" type="pic"/>
          </p:nvPr>
        </p:nvSpPr>
        <p:spPr>
          <a:xfrm>
            <a:off x="5183188" y="987425"/>
            <a:ext cx="6172200" cy="4873625"/>
          </a:xfrm>
          <a:prstGeom prst="rect">
            <a:avLst/>
          </a:prstGeom>
          <a:noFill/>
          <a:ln>
            <a:noFill/>
          </a:ln>
        </p:spPr>
      </p:sp>
      <p:sp>
        <p:nvSpPr>
          <p:cNvPr id="69" name="Google Shape;69;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d3.js" TargetMode="External"/><Relationship Id="rId4" Type="http://schemas.openxmlformats.org/officeDocument/2006/relationships/hyperlink" Target="http://node.j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github.com/Nishka-kotadia/bytesizedbrains" TargetMode="External"/><Relationship Id="rId4" Type="http://schemas.openxmlformats.org/officeDocument/2006/relationships/hyperlink" Target="https://youtu.be/rVe3hUxbCJ8" TargetMode="External"/><Relationship Id="rId5" Type="http://schemas.openxmlformats.org/officeDocument/2006/relationships/hyperlink" Target="https://docs.google.com/document/d/16ycUz44yu1Jc-O8KV4v_vRTKW1qv7_Idta3h94KF_ew/edit?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
          <p:cNvPicPr preferRelativeResize="0"/>
          <p:nvPr/>
        </p:nvPicPr>
        <p:blipFill rotWithShape="1">
          <a:blip r:embed="rId3">
            <a:alphaModFix/>
          </a:blip>
          <a:srcRect b="40504" l="35216" r="35722" t="9860"/>
          <a:stretch/>
        </p:blipFill>
        <p:spPr>
          <a:xfrm>
            <a:off x="7842263" y="1518007"/>
            <a:ext cx="4421349" cy="5638239"/>
          </a:xfrm>
          <a:prstGeom prst="rect">
            <a:avLst/>
          </a:prstGeom>
          <a:noFill/>
          <a:ln>
            <a:noFill/>
          </a:ln>
        </p:spPr>
      </p:pic>
      <p:sp>
        <p:nvSpPr>
          <p:cNvPr id="90" name="Google Shape;90;p1"/>
          <p:cNvSpPr txBox="1"/>
          <p:nvPr/>
        </p:nvSpPr>
        <p:spPr>
          <a:xfrm>
            <a:off x="0" y="604461"/>
            <a:ext cx="218258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2000" u="none" cap="none" strike="noStrike">
                <a:solidFill>
                  <a:schemeClr val="dk1"/>
                </a:solidFill>
                <a:latin typeface="Overlock"/>
                <a:ea typeface="Overlock"/>
                <a:cs typeface="Overlock"/>
                <a:sym typeface="Overlock"/>
              </a:rPr>
              <a:t>CLASH OF THE</a:t>
            </a:r>
            <a:endParaRPr b="1" i="0" sz="2000" u="none" cap="none" strike="noStrike">
              <a:solidFill>
                <a:srgbClr val="E81B25"/>
              </a:solidFill>
              <a:latin typeface="Overlock"/>
              <a:ea typeface="Overlock"/>
              <a:cs typeface="Overlock"/>
              <a:sym typeface="Overlock"/>
            </a:endParaRPr>
          </a:p>
        </p:txBody>
      </p:sp>
      <p:sp>
        <p:nvSpPr>
          <p:cNvPr id="91" name="Google Shape;91;p1"/>
          <p:cNvSpPr txBox="1"/>
          <p:nvPr/>
        </p:nvSpPr>
        <p:spPr>
          <a:xfrm>
            <a:off x="1756232" y="436120"/>
            <a:ext cx="209116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3600" u="none" cap="none" strike="noStrike">
                <a:solidFill>
                  <a:srgbClr val="E81B25"/>
                </a:solidFill>
                <a:latin typeface="Overlock"/>
                <a:ea typeface="Overlock"/>
                <a:cs typeface="Overlock"/>
                <a:sym typeface="Overlock"/>
              </a:rPr>
              <a:t>CLAWS</a:t>
            </a:r>
            <a:endParaRPr b="0" i="0" sz="3600" u="none" cap="none" strike="noStrike">
              <a:solidFill>
                <a:schemeClr val="dk1"/>
              </a:solidFill>
              <a:latin typeface="Overlock"/>
              <a:ea typeface="Overlock"/>
              <a:cs typeface="Overlock"/>
              <a:sym typeface="Overlock"/>
            </a:endParaRPr>
          </a:p>
        </p:txBody>
      </p:sp>
      <p:sp>
        <p:nvSpPr>
          <p:cNvPr id="92" name="Google Shape;92;p1"/>
          <p:cNvSpPr txBox="1"/>
          <p:nvPr/>
        </p:nvSpPr>
        <p:spPr>
          <a:xfrm>
            <a:off x="137350" y="1430525"/>
            <a:ext cx="9612600" cy="5710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4000">
                <a:solidFill>
                  <a:srgbClr val="E81B25"/>
                </a:solidFill>
                <a:latin typeface="Overlock"/>
                <a:ea typeface="Overlock"/>
                <a:cs typeface="Overlock"/>
                <a:sym typeface="Overlock"/>
              </a:rPr>
              <a:t>MS Ramaiah Institute Of Technology</a:t>
            </a:r>
            <a:endParaRPr b="1" sz="4000">
              <a:solidFill>
                <a:srgbClr val="E81B25"/>
              </a:solidFill>
              <a:latin typeface="Overlock"/>
              <a:ea typeface="Overlock"/>
              <a:cs typeface="Overlock"/>
              <a:sym typeface="Overlock"/>
            </a:endParaRPr>
          </a:p>
          <a:p>
            <a:pPr indent="0" lvl="0" marL="0" marR="0" rtl="0" algn="l">
              <a:spcBef>
                <a:spcPts val="0"/>
              </a:spcBef>
              <a:spcAft>
                <a:spcPts val="0"/>
              </a:spcAft>
              <a:buNone/>
            </a:pPr>
            <a:r>
              <a:rPr b="1" lang="en-IN" sz="4000">
                <a:solidFill>
                  <a:srgbClr val="E81B25"/>
                </a:solidFill>
                <a:latin typeface="Overlock"/>
                <a:ea typeface="Overlock"/>
                <a:cs typeface="Overlock"/>
                <a:sym typeface="Overlock"/>
              </a:rPr>
              <a:t>Byte Sized Brains</a:t>
            </a:r>
            <a:endParaRPr b="1" sz="4000">
              <a:solidFill>
                <a:srgbClr val="E81B25"/>
              </a:solidFill>
              <a:latin typeface="Overlock"/>
              <a:ea typeface="Overlock"/>
              <a:cs typeface="Overlock"/>
              <a:sym typeface="Overlock"/>
            </a:endParaRPr>
          </a:p>
          <a:p>
            <a:pPr indent="0" lvl="0" marL="0" marR="0" rtl="0" algn="l">
              <a:spcBef>
                <a:spcPts val="0"/>
              </a:spcBef>
              <a:spcAft>
                <a:spcPts val="0"/>
              </a:spcAft>
              <a:buNone/>
            </a:pPr>
            <a:r>
              <a:rPr b="1" lang="en-IN" sz="4000">
                <a:solidFill>
                  <a:srgbClr val="E81B25"/>
                </a:solidFill>
                <a:latin typeface="Overlock"/>
                <a:ea typeface="Overlock"/>
                <a:cs typeface="Overlock"/>
                <a:sym typeface="Overlock"/>
              </a:rPr>
              <a:t>AI that finds what research is missing </a:t>
            </a:r>
            <a:endParaRPr b="1" sz="4000">
              <a:solidFill>
                <a:srgbClr val="E81B25"/>
              </a:solidFill>
              <a:latin typeface="Overlock"/>
              <a:ea typeface="Overlock"/>
              <a:cs typeface="Overlock"/>
              <a:sym typeface="Overlock"/>
            </a:endParaRPr>
          </a:p>
          <a:p>
            <a:pPr indent="0" lvl="0" marL="0" marR="0" rtl="0" algn="l">
              <a:spcBef>
                <a:spcPts val="0"/>
              </a:spcBef>
              <a:spcAft>
                <a:spcPts val="0"/>
              </a:spcAft>
              <a:buNone/>
            </a:pPr>
            <a:r>
              <a:t/>
            </a:r>
            <a:endParaRPr b="1" sz="4000">
              <a:solidFill>
                <a:srgbClr val="E81B25"/>
              </a:solidFill>
              <a:latin typeface="Overlock"/>
              <a:ea typeface="Overlock"/>
              <a:cs typeface="Overlock"/>
              <a:sym typeface="Overlock"/>
            </a:endParaRPr>
          </a:p>
          <a:p>
            <a:pPr indent="0" lvl="0" marL="0" marR="0" rtl="0" algn="l">
              <a:spcBef>
                <a:spcPts val="0"/>
              </a:spcBef>
              <a:spcAft>
                <a:spcPts val="0"/>
              </a:spcAft>
              <a:buNone/>
            </a:pPr>
            <a:r>
              <a:rPr b="1" i="0" lang="en-IN" sz="3300" u="none" cap="none" strike="noStrike">
                <a:solidFill>
                  <a:schemeClr val="dk2"/>
                </a:solidFill>
                <a:latin typeface="Overlock"/>
                <a:ea typeface="Overlock"/>
                <a:cs typeface="Overlock"/>
                <a:sym typeface="Overlock"/>
              </a:rPr>
              <a:t>Members Name:</a:t>
            </a:r>
            <a:endParaRPr b="1" i="0" sz="3300" u="none" cap="none" strike="noStrike">
              <a:solidFill>
                <a:schemeClr val="dk2"/>
              </a:solidFill>
              <a:latin typeface="Overlock"/>
              <a:ea typeface="Overlock"/>
              <a:cs typeface="Overlock"/>
              <a:sym typeface="Overlock"/>
            </a:endParaRPr>
          </a:p>
          <a:p>
            <a:pPr indent="0" lvl="0" marL="0" marR="0" rtl="0" algn="l">
              <a:spcBef>
                <a:spcPts val="0"/>
              </a:spcBef>
              <a:spcAft>
                <a:spcPts val="0"/>
              </a:spcAft>
              <a:buNone/>
            </a:pPr>
            <a:r>
              <a:rPr b="1" lang="en-IN" sz="3300">
                <a:solidFill>
                  <a:schemeClr val="dk2"/>
                </a:solidFill>
                <a:latin typeface="Overlock"/>
                <a:ea typeface="Overlock"/>
                <a:cs typeface="Overlock"/>
                <a:sym typeface="Overlock"/>
              </a:rPr>
              <a:t>Kotadia Nishka Ankitkumar</a:t>
            </a:r>
            <a:endParaRPr b="1" sz="3300">
              <a:solidFill>
                <a:schemeClr val="dk2"/>
              </a:solidFill>
              <a:latin typeface="Overlock"/>
              <a:ea typeface="Overlock"/>
              <a:cs typeface="Overlock"/>
              <a:sym typeface="Overlock"/>
            </a:endParaRPr>
          </a:p>
          <a:p>
            <a:pPr indent="0" lvl="0" marL="0" marR="0" rtl="0" algn="l">
              <a:spcBef>
                <a:spcPts val="0"/>
              </a:spcBef>
              <a:spcAft>
                <a:spcPts val="0"/>
              </a:spcAft>
              <a:buNone/>
            </a:pPr>
            <a:r>
              <a:rPr b="1" lang="en-IN" sz="3300">
                <a:solidFill>
                  <a:schemeClr val="dk2"/>
                </a:solidFill>
                <a:latin typeface="Overlock"/>
                <a:ea typeface="Overlock"/>
                <a:cs typeface="Overlock"/>
                <a:sym typeface="Overlock"/>
              </a:rPr>
              <a:t>Nidhi C A</a:t>
            </a:r>
            <a:endParaRPr b="1" sz="3300">
              <a:solidFill>
                <a:schemeClr val="dk2"/>
              </a:solidFill>
              <a:latin typeface="Overlock"/>
              <a:ea typeface="Overlock"/>
              <a:cs typeface="Overlock"/>
              <a:sym typeface="Overlock"/>
            </a:endParaRPr>
          </a:p>
          <a:p>
            <a:pPr indent="0" lvl="0" marL="0" marR="0" rtl="0" algn="l">
              <a:spcBef>
                <a:spcPts val="0"/>
              </a:spcBef>
              <a:spcAft>
                <a:spcPts val="0"/>
              </a:spcAft>
              <a:buNone/>
            </a:pPr>
            <a:r>
              <a:rPr b="1" lang="en-IN" sz="3300">
                <a:solidFill>
                  <a:schemeClr val="dk2"/>
                </a:solidFill>
                <a:latin typeface="Overlock"/>
                <a:ea typeface="Overlock"/>
                <a:cs typeface="Overlock"/>
                <a:sym typeface="Overlock"/>
              </a:rPr>
              <a:t>Kaninika Sardar</a:t>
            </a:r>
            <a:endParaRPr b="1" sz="3300">
              <a:solidFill>
                <a:schemeClr val="dk2"/>
              </a:solidFill>
              <a:latin typeface="Overlock"/>
              <a:ea typeface="Overlock"/>
              <a:cs typeface="Overlock"/>
              <a:sym typeface="Overlock"/>
            </a:endParaRPr>
          </a:p>
          <a:p>
            <a:pPr indent="0" lvl="0" marL="0" marR="0" rtl="0" algn="l">
              <a:spcBef>
                <a:spcPts val="0"/>
              </a:spcBef>
              <a:spcAft>
                <a:spcPts val="0"/>
              </a:spcAft>
              <a:buNone/>
            </a:pPr>
            <a:r>
              <a:rPr b="1" lang="en-IN" sz="3300">
                <a:solidFill>
                  <a:schemeClr val="dk2"/>
                </a:solidFill>
                <a:latin typeface="Overlock"/>
                <a:ea typeface="Overlock"/>
                <a:cs typeface="Overlock"/>
                <a:sym typeface="Overlock"/>
              </a:rPr>
              <a:t>Chiranth R Rao</a:t>
            </a:r>
            <a:br>
              <a:rPr b="1" i="0" lang="en-IN" sz="4000" u="none" cap="none" strike="noStrike">
                <a:solidFill>
                  <a:schemeClr val="dk2"/>
                </a:solidFill>
                <a:latin typeface="Overlock"/>
                <a:ea typeface="Overlock"/>
                <a:cs typeface="Overlock"/>
                <a:sym typeface="Overlock"/>
              </a:rPr>
            </a:br>
            <a:endParaRPr b="1" i="0" sz="4000" u="none" cap="none" strike="noStrike">
              <a:solidFill>
                <a:schemeClr val="dk2"/>
              </a:solidFill>
              <a:latin typeface="Overlock"/>
              <a:ea typeface="Overlock"/>
              <a:cs typeface="Overlock"/>
              <a:sym typeface="Overlock"/>
            </a:endParaRPr>
          </a:p>
        </p:txBody>
      </p:sp>
      <p:grpSp>
        <p:nvGrpSpPr>
          <p:cNvPr id="93" name="Google Shape;93;p1"/>
          <p:cNvGrpSpPr/>
          <p:nvPr/>
        </p:nvGrpSpPr>
        <p:grpSpPr>
          <a:xfrm>
            <a:off x="137355" y="46746"/>
            <a:ext cx="3814159" cy="639045"/>
            <a:chOff x="137355" y="133834"/>
            <a:chExt cx="3814159" cy="639045"/>
          </a:xfrm>
        </p:grpSpPr>
        <p:pic>
          <p:nvPicPr>
            <p:cNvPr id="94" name="Google Shape;94;p1"/>
            <p:cNvPicPr preferRelativeResize="0"/>
            <p:nvPr/>
          </p:nvPicPr>
          <p:blipFill rotWithShape="1">
            <a:blip r:embed="rId4">
              <a:alphaModFix/>
            </a:blip>
            <a:srcRect b="0" l="0" r="0" t="0"/>
            <a:stretch/>
          </p:blipFill>
          <p:spPr>
            <a:xfrm>
              <a:off x="137355" y="133834"/>
              <a:ext cx="974396" cy="639045"/>
            </a:xfrm>
            <a:prstGeom prst="rect">
              <a:avLst/>
            </a:prstGeom>
            <a:noFill/>
            <a:ln>
              <a:noFill/>
            </a:ln>
          </p:spPr>
        </p:pic>
        <p:sp>
          <p:nvSpPr>
            <p:cNvPr id="95" name="Google Shape;95;p1"/>
            <p:cNvSpPr txBox="1"/>
            <p:nvPr/>
          </p:nvSpPr>
          <p:spPr>
            <a:xfrm>
              <a:off x="1017814" y="244337"/>
              <a:ext cx="29337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1800" u="none" cap="none" strike="noStrike">
                  <a:solidFill>
                    <a:schemeClr val="dk1"/>
                  </a:solidFill>
                  <a:latin typeface="Overlock"/>
                  <a:ea typeface="Overlock"/>
                  <a:cs typeface="Overlock"/>
                  <a:sym typeface="Overlock"/>
                </a:rPr>
                <a:t>| Tech Management, SRI-B</a:t>
              </a:r>
              <a:endParaRPr b="1" i="0" sz="1800" u="none" cap="none" strike="noStrike">
                <a:solidFill>
                  <a:srgbClr val="E81B25"/>
                </a:solidFill>
                <a:latin typeface="Overlock"/>
                <a:ea typeface="Overlock"/>
                <a:cs typeface="Overlock"/>
                <a:sym typeface="Overlock"/>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IN" sz="1000" u="none" cap="none" strike="noStrike">
                <a:solidFill>
                  <a:schemeClr val="lt1"/>
                </a:solidFill>
                <a:latin typeface="Calibri"/>
                <a:ea typeface="Calibri"/>
                <a:cs typeface="Calibri"/>
                <a:sym typeface="Calibri"/>
              </a:rPr>
              <a:t>Idea</a:t>
            </a:r>
            <a:endParaRPr b="0" i="0" sz="1000" u="none" cap="none" strike="noStrike">
              <a:solidFill>
                <a:schemeClr val="lt1"/>
              </a:solidFill>
              <a:latin typeface="Calibri"/>
              <a:ea typeface="Calibri"/>
              <a:cs typeface="Calibri"/>
              <a:sym typeface="Calibri"/>
            </a:endParaRPr>
          </a:p>
        </p:txBody>
      </p:sp>
      <p:sp>
        <p:nvSpPr>
          <p:cNvPr id="104" name="Google Shape;104;p2"/>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IN" sz="4267" u="none" cap="none" strike="noStrike">
                <a:solidFill>
                  <a:schemeClr val="dk1"/>
                </a:solidFill>
                <a:latin typeface="Calibri"/>
                <a:ea typeface="Calibri"/>
                <a:cs typeface="Calibri"/>
                <a:sym typeface="Calibri"/>
              </a:rPr>
              <a:t>Problem Statement</a:t>
            </a:r>
            <a:endParaRPr sz="4267">
              <a:solidFill>
                <a:schemeClr val="dk1"/>
              </a:solidFill>
              <a:latin typeface="Calibri"/>
              <a:ea typeface="Calibri"/>
              <a:cs typeface="Calibri"/>
              <a:sym typeface="Calibri"/>
            </a:endParaRPr>
          </a:p>
        </p:txBody>
      </p:sp>
      <p:sp>
        <p:nvSpPr>
          <p:cNvPr id="105" name="Google Shape;105;p2"/>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106" name="Google Shape;106;p2"/>
          <p:cNvSpPr txBox="1"/>
          <p:nvPr/>
        </p:nvSpPr>
        <p:spPr>
          <a:xfrm>
            <a:off x="740500" y="1682950"/>
            <a:ext cx="11147700" cy="32784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50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Why we selected this theme:- Researchers face information overload – thousands of papers and no clear guidance on what’s not done yet.</a:t>
            </a:r>
            <a:r>
              <a:rPr lang="en-IN"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342900" lvl="0" marL="457200" marR="0" rtl="0" algn="l">
              <a:lnSpc>
                <a:spcPct val="150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What problem we are solving:- </a:t>
            </a:r>
            <a:r>
              <a:rPr lang="en-IN" sz="1800">
                <a:solidFill>
                  <a:schemeClr val="dk1"/>
                </a:solidFill>
                <a:latin typeface="Calibri"/>
                <a:ea typeface="Calibri"/>
                <a:cs typeface="Calibri"/>
                <a:sym typeface="Calibri"/>
              </a:rPr>
              <a:t>Millions of papers exist,manual review is slow and often misses connections. Existing tools (search engines, ChatGPT) list facts but don’t tell us what’s missing.</a:t>
            </a:r>
            <a:endParaRPr sz="1800">
              <a:solidFill>
                <a:schemeClr val="dk1"/>
              </a:solidFill>
              <a:latin typeface="Calibri"/>
              <a:ea typeface="Calibri"/>
              <a:cs typeface="Calibri"/>
              <a:sym typeface="Calibri"/>
            </a:endParaRPr>
          </a:p>
          <a:p>
            <a:pPr indent="-342900" lvl="0" marL="457200" marR="0" rtl="0" algn="l">
              <a:lnSpc>
                <a:spcPct val="150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People facing this: -Students and R&amp;D teams waste time picking topics</a:t>
            </a:r>
            <a:endParaRPr sz="1800">
              <a:solidFill>
                <a:schemeClr val="dk1"/>
              </a:solidFill>
              <a:latin typeface="Calibri"/>
              <a:ea typeface="Calibri"/>
              <a:cs typeface="Calibri"/>
              <a:sym typeface="Calibri"/>
            </a:endParaRPr>
          </a:p>
          <a:p>
            <a:pPr indent="-342900" lvl="0" marL="457200" rtl="0" algn="l">
              <a:lnSpc>
                <a:spcPct val="150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Why Is It Important:- The rapid growth of AI research has made it difficult to identify meaningful and unique innovation opportunities. Our system reduces research time by automatically detecting unexplored gaps and generating actionable project ideas for students, researchers, and organizations</a:t>
            </a:r>
            <a:endParaRPr sz="18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15" name="Google Shape;115;p3"/>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Current Solution &amp; Gaps</a:t>
            </a:r>
            <a:endParaRPr sz="4267">
              <a:solidFill>
                <a:schemeClr val="dk1"/>
              </a:solidFill>
              <a:latin typeface="Calibri"/>
              <a:ea typeface="Calibri"/>
              <a:cs typeface="Calibri"/>
              <a:sym typeface="Calibri"/>
            </a:endParaRPr>
          </a:p>
        </p:txBody>
      </p:sp>
      <p:sp>
        <p:nvSpPr>
          <p:cNvPr id="116" name="Google Shape;116;p3"/>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graphicFrame>
        <p:nvGraphicFramePr>
          <p:cNvPr id="117" name="Google Shape;117;p3"/>
          <p:cNvGraphicFramePr/>
          <p:nvPr/>
        </p:nvGraphicFramePr>
        <p:xfrm>
          <a:off x="798975" y="1939125"/>
          <a:ext cx="3000000" cy="3000000"/>
        </p:xfrm>
        <a:graphic>
          <a:graphicData uri="http://schemas.openxmlformats.org/drawingml/2006/table">
            <a:tbl>
              <a:tblPr>
                <a:noFill/>
                <a:tableStyleId>{1295F5B6-B17B-49A5-8B2D-4E18F70E88C2}</a:tableStyleId>
              </a:tblPr>
              <a:tblGrid>
                <a:gridCol w="3429000"/>
                <a:gridCol w="3429000"/>
                <a:gridCol w="3429000"/>
              </a:tblGrid>
              <a:tr h="381000">
                <a:tc>
                  <a:txBody>
                    <a:bodyPr/>
                    <a:lstStyle/>
                    <a:p>
                      <a:pPr indent="0" lvl="0" marL="0" rtl="0" algn="l">
                        <a:spcBef>
                          <a:spcPts val="0"/>
                        </a:spcBef>
                        <a:spcAft>
                          <a:spcPts val="0"/>
                        </a:spcAft>
                        <a:buNone/>
                      </a:pPr>
                      <a:r>
                        <a:rPr lang="en-IN" sz="1700">
                          <a:latin typeface="Calibri"/>
                          <a:ea typeface="Calibri"/>
                          <a:cs typeface="Calibri"/>
                          <a:sym typeface="Calibri"/>
                        </a:rPr>
                        <a:t>Existing Solutions</a:t>
                      </a:r>
                      <a:endParaRPr sz="17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sz="1700">
                          <a:latin typeface="Calibri"/>
                          <a:ea typeface="Calibri"/>
                          <a:cs typeface="Calibri"/>
                          <a:sym typeface="Calibri"/>
                        </a:rPr>
                        <a:t>What is Missing / Broken </a:t>
                      </a:r>
                      <a:endParaRPr sz="17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sz="1700">
                          <a:latin typeface="Calibri"/>
                          <a:ea typeface="Calibri"/>
                          <a:cs typeface="Calibri"/>
                          <a:sym typeface="Calibri"/>
                        </a:rPr>
                        <a:t>Opportunity </a:t>
                      </a:r>
                      <a:endParaRPr sz="1700">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lang="en-IN" sz="1700">
                          <a:latin typeface="Calibri"/>
                          <a:ea typeface="Calibri"/>
                          <a:cs typeface="Calibri"/>
                          <a:sym typeface="Calibri"/>
                        </a:rPr>
                        <a:t>Semantic Scholar, Elicit – paper search &amp; summarization </a:t>
                      </a:r>
                      <a:endParaRPr sz="17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sz="1700">
                          <a:latin typeface="Calibri"/>
                          <a:ea typeface="Calibri"/>
                          <a:cs typeface="Calibri"/>
                          <a:sym typeface="Calibri"/>
                        </a:rPr>
                        <a:t>No autonomous gap detection or innovation guidance </a:t>
                      </a:r>
                      <a:endParaRPr sz="17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sz="1700">
                          <a:latin typeface="Calibri"/>
                          <a:ea typeface="Calibri"/>
                          <a:cs typeface="Calibri"/>
                          <a:sym typeface="Calibri"/>
                        </a:rPr>
                        <a:t>AI systems that identify unexplored research opportunities </a:t>
                      </a:r>
                      <a:endParaRPr sz="1700">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lang="en-IN" sz="1700">
                          <a:latin typeface="Calibri"/>
                          <a:ea typeface="Calibri"/>
                          <a:cs typeface="Calibri"/>
                          <a:sym typeface="Calibri"/>
                        </a:rPr>
                        <a:t>ResearchRabbit, Connected Papers – citation &amp; relationship visualization </a:t>
                      </a:r>
                      <a:endParaRPr sz="17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sz="1700">
                          <a:latin typeface="Calibri"/>
                          <a:ea typeface="Calibri"/>
                          <a:cs typeface="Calibri"/>
                          <a:sym typeface="Calibri"/>
                        </a:rPr>
                        <a:t>No intelligent reasoning across papers </a:t>
                      </a:r>
                      <a:endParaRPr sz="17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sz="1700">
                          <a:latin typeface="Calibri"/>
                          <a:ea typeface="Calibri"/>
                          <a:cs typeface="Calibri"/>
                          <a:sym typeface="Calibri"/>
                        </a:rPr>
                        <a:t>Multi-agent reasoning for cross-paper synthesis </a:t>
                      </a:r>
                      <a:endParaRPr sz="1700">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lang="en-IN" sz="1700">
                          <a:latin typeface="Calibri"/>
                          <a:ea typeface="Calibri"/>
                          <a:cs typeface="Calibri"/>
                          <a:sym typeface="Calibri"/>
                        </a:rPr>
                        <a:t>Scite.ai, Consensus – evidence &amp; citation analysis </a:t>
                      </a:r>
                      <a:endParaRPr sz="17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sz="1700">
                          <a:latin typeface="Calibri"/>
                          <a:ea typeface="Calibri"/>
                          <a:cs typeface="Calibri"/>
                          <a:sym typeface="Calibri"/>
                        </a:rPr>
                        <a:t>Cannot suggest novel project/research ideas </a:t>
                      </a:r>
                      <a:endParaRPr sz="17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sz="1700">
                          <a:latin typeface="Calibri"/>
                          <a:ea typeface="Calibri"/>
                          <a:cs typeface="Calibri"/>
                          <a:sym typeface="Calibri"/>
                        </a:rPr>
                        <a:t>AI-assisted idea generation for researchers and students </a:t>
                      </a:r>
                      <a:endParaRPr sz="1700">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lang="en-IN" sz="1700">
                          <a:latin typeface="Calibri"/>
                          <a:ea typeface="Calibri"/>
                          <a:cs typeface="Calibri"/>
                          <a:sym typeface="Calibri"/>
                        </a:rPr>
                        <a:t>SciSpace, Perplexity AI – AI-based explanations &amp; answers </a:t>
                      </a:r>
                      <a:endParaRPr sz="17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sz="1700">
                          <a:latin typeface="Calibri"/>
                          <a:ea typeface="Calibri"/>
                          <a:cs typeface="Calibri"/>
                          <a:sym typeface="Calibri"/>
                        </a:rPr>
                        <a:t>Focus on information retrieval, not research direction </a:t>
                      </a:r>
                      <a:endParaRPr sz="17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sz="1700">
                          <a:latin typeface="Calibri"/>
                          <a:ea typeface="Calibri"/>
                          <a:cs typeface="Calibri"/>
                          <a:sym typeface="Calibri"/>
                        </a:rPr>
                        <a:t>Transforming research tools from search engines into innovation discovery systems </a:t>
                      </a:r>
                      <a:endParaRPr sz="1700">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4"/>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26" name="Google Shape;126;p4"/>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Your Solutions</a:t>
            </a:r>
            <a:endParaRPr sz="4267">
              <a:solidFill>
                <a:schemeClr val="dk1"/>
              </a:solidFill>
              <a:latin typeface="Calibri"/>
              <a:ea typeface="Calibri"/>
              <a:cs typeface="Calibri"/>
              <a:sym typeface="Calibri"/>
            </a:endParaRPr>
          </a:p>
        </p:txBody>
      </p:sp>
      <p:sp>
        <p:nvSpPr>
          <p:cNvPr id="127" name="Google Shape;127;p4"/>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128" name="Google Shape;128;p4"/>
          <p:cNvSpPr txBox="1"/>
          <p:nvPr/>
        </p:nvSpPr>
        <p:spPr>
          <a:xfrm>
            <a:off x="740504" y="1682950"/>
            <a:ext cx="10972800" cy="535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What we built:- </a:t>
            </a:r>
            <a:r>
              <a:rPr lang="en-IN" sz="1800">
                <a:solidFill>
                  <a:schemeClr val="dk1"/>
                </a:solidFill>
                <a:latin typeface="Calibri"/>
                <a:ea typeface="Calibri"/>
                <a:cs typeface="Calibri"/>
                <a:sym typeface="Calibri"/>
              </a:rPr>
              <a:t>We built an OpenClaw-inspired multi-agent AI platform that analyzes research papers, detects unexplored gaps, and generates innovative project ideas. </a:t>
            </a:r>
            <a:endParaRPr/>
          </a:p>
          <a:p>
            <a:pPr indent="0" lvl="0" marL="0" rtl="0" algn="l">
              <a:lnSpc>
                <a:spcPct val="115000"/>
              </a:lnSpc>
              <a:spcBef>
                <a:spcPts val="1800"/>
              </a:spcBef>
              <a:spcAft>
                <a:spcPts val="0"/>
              </a:spcAft>
              <a:buClr>
                <a:schemeClr val="dk1"/>
              </a:buClr>
              <a:buSzPts val="1100"/>
              <a:buFont typeface="Arial"/>
              <a:buNone/>
            </a:pPr>
            <a:r>
              <a:rPr b="1" lang="en-IN" sz="1700">
                <a:solidFill>
                  <a:schemeClr val="dk1"/>
                </a:solidFill>
              </a:rPr>
              <a:t>Core Idea Explanation:- </a:t>
            </a:r>
            <a:r>
              <a:rPr lang="en-IN" sz="1800">
                <a:solidFill>
                  <a:schemeClr val="dk1"/>
                </a:solidFill>
                <a:latin typeface="Calibri"/>
                <a:ea typeface="Calibri"/>
                <a:cs typeface="Calibri"/>
                <a:sym typeface="Calibri"/>
              </a:rPr>
              <a:t>The system uses multiple AI agents working together:</a:t>
            </a:r>
            <a:endParaRPr sz="1800">
              <a:solidFill>
                <a:schemeClr val="dk1"/>
              </a:solidFill>
              <a:latin typeface="Calibri"/>
              <a:ea typeface="Calibri"/>
              <a:cs typeface="Calibri"/>
              <a:sym typeface="Calibri"/>
            </a:endParaRPr>
          </a:p>
          <a:p>
            <a:pPr indent="-342900" lvl="0" marL="457200" rtl="0" algn="l">
              <a:lnSpc>
                <a:spcPct val="115000"/>
              </a:lnSpc>
              <a:spcBef>
                <a:spcPts val="120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Research Agent fetches papers</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Summarizer Agent extracts key concepts</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Gap Detection Agent identifies unexplored areas</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Idea Generator Agent creates project ideas</a:t>
            </a:r>
            <a:endParaRPr b="1" sz="1800">
              <a:solidFill>
                <a:schemeClr val="dk1"/>
              </a:solidFill>
              <a:latin typeface="Calibri"/>
              <a:ea typeface="Calibri"/>
              <a:cs typeface="Calibri"/>
              <a:sym typeface="Calibri"/>
            </a:endParaRPr>
          </a:p>
          <a:p>
            <a:pPr indent="0" lvl="0" marL="0" rtl="0" algn="l">
              <a:lnSpc>
                <a:spcPct val="115000"/>
              </a:lnSpc>
              <a:spcBef>
                <a:spcPts val="1800"/>
              </a:spcBef>
              <a:spcAft>
                <a:spcPts val="0"/>
              </a:spcAft>
              <a:buNone/>
            </a:pPr>
            <a:r>
              <a:rPr b="1" lang="en-IN" sz="1800">
                <a:solidFill>
                  <a:schemeClr val="dk1"/>
                </a:solidFill>
                <a:latin typeface="Calibri"/>
                <a:ea typeface="Calibri"/>
                <a:cs typeface="Calibri"/>
                <a:sym typeface="Calibri"/>
              </a:rPr>
              <a:t>Key Features</a:t>
            </a:r>
            <a:endParaRPr b="1" sz="1800">
              <a:solidFill>
                <a:schemeClr val="dk1"/>
              </a:solidFill>
              <a:latin typeface="Calibri"/>
              <a:ea typeface="Calibri"/>
              <a:cs typeface="Calibri"/>
              <a:sym typeface="Calibri"/>
            </a:endParaRPr>
          </a:p>
          <a:p>
            <a:pPr indent="-342900" lvl="0" marL="457200" rtl="0" algn="l">
              <a:lnSpc>
                <a:spcPct val="115000"/>
              </a:lnSpc>
              <a:spcBef>
                <a:spcPts val="120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Multi-agent AI workflow</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Research analysis using arXiv API</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Automated gap detection</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AI-generated innovation ideas</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Real-time agent workflow visualization</a:t>
            </a:r>
            <a:endParaRPr sz="18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b="1"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5"/>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37" name="Google Shape;137;p5"/>
          <p:cNvSpPr/>
          <p:nvPr/>
        </p:nvSpPr>
        <p:spPr>
          <a:xfrm>
            <a:off x="314182" y="328587"/>
            <a:ext cx="10972800" cy="85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Demo/Product Walkthrough</a:t>
            </a:r>
            <a:endParaRPr sz="4267">
              <a:solidFill>
                <a:schemeClr val="dk1"/>
              </a:solidFill>
              <a:latin typeface="Calibri"/>
              <a:ea typeface="Calibri"/>
              <a:cs typeface="Calibri"/>
              <a:sym typeface="Calibri"/>
            </a:endParaRPr>
          </a:p>
        </p:txBody>
      </p:sp>
      <p:sp>
        <p:nvSpPr>
          <p:cNvPr id="138" name="Google Shape;138;p5"/>
          <p:cNvSpPr txBox="1"/>
          <p:nvPr/>
        </p:nvSpPr>
        <p:spPr>
          <a:xfrm>
            <a:off x="172500" y="1093600"/>
            <a:ext cx="11847000" cy="5649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2400"/>
              </a:spcBef>
              <a:spcAft>
                <a:spcPts val="0"/>
              </a:spcAft>
              <a:buNone/>
            </a:pPr>
            <a:r>
              <a:rPr b="1" lang="en-IN" sz="1500">
                <a:solidFill>
                  <a:schemeClr val="dk1"/>
                </a:solidFill>
                <a:latin typeface="Calibri"/>
                <a:ea typeface="Calibri"/>
                <a:cs typeface="Calibri"/>
                <a:sym typeface="Calibri"/>
              </a:rPr>
              <a:t>Screen / Flow</a:t>
            </a:r>
            <a:endParaRPr b="1" sz="1500">
              <a:solidFill>
                <a:schemeClr val="dk1"/>
              </a:solidFill>
              <a:latin typeface="Calibri"/>
              <a:ea typeface="Calibri"/>
              <a:cs typeface="Calibri"/>
              <a:sym typeface="Calibri"/>
            </a:endParaRPr>
          </a:p>
          <a:p>
            <a:pPr indent="-323850" lvl="0" marL="457200" rtl="0" algn="l">
              <a:lnSpc>
                <a:spcPct val="100000"/>
              </a:lnSpc>
              <a:spcBef>
                <a:spcPts val="1200"/>
              </a:spcBef>
              <a:spcAft>
                <a:spcPts val="0"/>
              </a:spcAft>
              <a:buClr>
                <a:schemeClr val="dk1"/>
              </a:buClr>
              <a:buSzPts val="1500"/>
              <a:buFont typeface="Calibri"/>
              <a:buAutoNum type="arabicPeriod"/>
            </a:pPr>
            <a:r>
              <a:rPr lang="en-IN" sz="1500">
                <a:solidFill>
                  <a:schemeClr val="dk1"/>
                </a:solidFill>
                <a:latin typeface="Calibri"/>
                <a:ea typeface="Calibri"/>
                <a:cs typeface="Calibri"/>
                <a:sym typeface="Calibri"/>
              </a:rPr>
              <a:t>User enters a research topic (e.g. </a:t>
            </a:r>
            <a:r>
              <a:rPr i="1" lang="en-IN" sz="1500">
                <a:solidFill>
                  <a:schemeClr val="dk1"/>
                </a:solidFill>
                <a:latin typeface="Calibri"/>
                <a:ea typeface="Calibri"/>
                <a:cs typeface="Calibri"/>
                <a:sym typeface="Calibri"/>
              </a:rPr>
              <a:t>“Multi-Agent AI in Healthcare”</a:t>
            </a:r>
            <a:r>
              <a:rPr lang="en-IN" sz="1500">
                <a:solidFill>
                  <a:schemeClr val="dk1"/>
                </a:solidFill>
                <a:latin typeface="Calibri"/>
                <a:ea typeface="Calibri"/>
                <a:cs typeface="Calibri"/>
                <a:sym typeface="Calibri"/>
              </a:rPr>
              <a:t>)</a:t>
            </a:r>
            <a:endParaRPr sz="1500">
              <a:solidFill>
                <a:schemeClr val="dk1"/>
              </a:solidFill>
              <a:latin typeface="Calibri"/>
              <a:ea typeface="Calibri"/>
              <a:cs typeface="Calibri"/>
              <a:sym typeface="Calibri"/>
            </a:endParaRPr>
          </a:p>
          <a:p>
            <a:pPr indent="-323850" lvl="0" marL="457200" rtl="0" algn="l">
              <a:lnSpc>
                <a:spcPct val="100000"/>
              </a:lnSpc>
              <a:spcBef>
                <a:spcPts val="0"/>
              </a:spcBef>
              <a:spcAft>
                <a:spcPts val="0"/>
              </a:spcAft>
              <a:buClr>
                <a:schemeClr val="dk1"/>
              </a:buClr>
              <a:buSzPts val="1500"/>
              <a:buFont typeface="Calibri"/>
              <a:buAutoNum type="arabicPeriod"/>
            </a:pPr>
            <a:r>
              <a:rPr lang="en-IN" sz="1500">
                <a:solidFill>
                  <a:schemeClr val="dk1"/>
                </a:solidFill>
                <a:latin typeface="Calibri"/>
                <a:ea typeface="Calibri"/>
                <a:cs typeface="Calibri"/>
                <a:sym typeface="Calibri"/>
              </a:rPr>
              <a:t>Research Agent fetches relevant papers and sources from arXiv</a:t>
            </a:r>
            <a:endParaRPr sz="1500">
              <a:solidFill>
                <a:schemeClr val="dk1"/>
              </a:solidFill>
              <a:latin typeface="Calibri"/>
              <a:ea typeface="Calibri"/>
              <a:cs typeface="Calibri"/>
              <a:sym typeface="Calibri"/>
            </a:endParaRPr>
          </a:p>
          <a:p>
            <a:pPr indent="-323850" lvl="0" marL="457200" rtl="0" algn="l">
              <a:lnSpc>
                <a:spcPct val="100000"/>
              </a:lnSpc>
              <a:spcBef>
                <a:spcPts val="0"/>
              </a:spcBef>
              <a:spcAft>
                <a:spcPts val="0"/>
              </a:spcAft>
              <a:buClr>
                <a:schemeClr val="dk1"/>
              </a:buClr>
              <a:buSzPts val="1500"/>
              <a:buFont typeface="Calibri"/>
              <a:buAutoNum type="arabicPeriod"/>
            </a:pPr>
            <a:r>
              <a:rPr lang="en-IN" sz="1500">
                <a:solidFill>
                  <a:schemeClr val="dk1"/>
                </a:solidFill>
                <a:latin typeface="Calibri"/>
                <a:ea typeface="Calibri"/>
                <a:cs typeface="Calibri"/>
                <a:sym typeface="Calibri"/>
              </a:rPr>
              <a:t>AI agents analyze concepts, trends, and relationships between papers</a:t>
            </a:r>
            <a:endParaRPr sz="1500">
              <a:solidFill>
                <a:schemeClr val="dk1"/>
              </a:solidFill>
              <a:latin typeface="Calibri"/>
              <a:ea typeface="Calibri"/>
              <a:cs typeface="Calibri"/>
              <a:sym typeface="Calibri"/>
            </a:endParaRPr>
          </a:p>
          <a:p>
            <a:pPr indent="-323850" lvl="0" marL="457200" rtl="0" algn="l">
              <a:lnSpc>
                <a:spcPct val="100000"/>
              </a:lnSpc>
              <a:spcBef>
                <a:spcPts val="0"/>
              </a:spcBef>
              <a:spcAft>
                <a:spcPts val="0"/>
              </a:spcAft>
              <a:buClr>
                <a:schemeClr val="dk1"/>
              </a:buClr>
              <a:buSzPts val="1500"/>
              <a:buFont typeface="Calibri"/>
              <a:buAutoNum type="arabicPeriod"/>
            </a:pPr>
            <a:r>
              <a:rPr lang="en-IN" sz="1500">
                <a:solidFill>
                  <a:schemeClr val="dk1"/>
                </a:solidFill>
                <a:latin typeface="Calibri"/>
                <a:ea typeface="Calibri"/>
                <a:cs typeface="Calibri"/>
                <a:sym typeface="Calibri"/>
              </a:rPr>
              <a:t>Gap Detection Agent identifies underexplored or missing research areas</a:t>
            </a:r>
            <a:endParaRPr sz="1500">
              <a:solidFill>
                <a:schemeClr val="dk1"/>
              </a:solidFill>
              <a:latin typeface="Calibri"/>
              <a:ea typeface="Calibri"/>
              <a:cs typeface="Calibri"/>
              <a:sym typeface="Calibri"/>
            </a:endParaRPr>
          </a:p>
          <a:p>
            <a:pPr indent="-323850" lvl="0" marL="457200" rtl="0" algn="l">
              <a:lnSpc>
                <a:spcPct val="100000"/>
              </a:lnSpc>
              <a:spcBef>
                <a:spcPts val="0"/>
              </a:spcBef>
              <a:spcAft>
                <a:spcPts val="0"/>
              </a:spcAft>
              <a:buClr>
                <a:schemeClr val="dk1"/>
              </a:buClr>
              <a:buSzPts val="1500"/>
              <a:buFont typeface="Calibri"/>
              <a:buAutoNum type="arabicPeriod"/>
            </a:pPr>
            <a:r>
              <a:rPr lang="en-IN" sz="1500">
                <a:solidFill>
                  <a:schemeClr val="dk1"/>
                </a:solidFill>
                <a:latin typeface="Calibri"/>
                <a:ea typeface="Calibri"/>
                <a:cs typeface="Calibri"/>
                <a:sym typeface="Calibri"/>
              </a:rPr>
              <a:t>Idea Generator Agent produces innovative project ideas and explanations</a:t>
            </a:r>
            <a:endParaRPr sz="1500">
              <a:solidFill>
                <a:schemeClr val="dk1"/>
              </a:solidFill>
              <a:latin typeface="Calibri"/>
              <a:ea typeface="Calibri"/>
              <a:cs typeface="Calibri"/>
              <a:sym typeface="Calibri"/>
            </a:endParaRPr>
          </a:p>
          <a:p>
            <a:pPr indent="-323850" lvl="0" marL="457200" rtl="0" algn="l">
              <a:lnSpc>
                <a:spcPct val="100000"/>
              </a:lnSpc>
              <a:spcBef>
                <a:spcPts val="0"/>
              </a:spcBef>
              <a:spcAft>
                <a:spcPts val="0"/>
              </a:spcAft>
              <a:buClr>
                <a:schemeClr val="dk1"/>
              </a:buClr>
              <a:buSzPts val="1500"/>
              <a:buFont typeface="Calibri"/>
              <a:buAutoNum type="arabicPeriod"/>
            </a:pPr>
            <a:r>
              <a:rPr lang="en-IN" sz="1500">
                <a:solidFill>
                  <a:schemeClr val="dk1"/>
                </a:solidFill>
                <a:latin typeface="Calibri"/>
                <a:ea typeface="Calibri"/>
                <a:cs typeface="Calibri"/>
                <a:sym typeface="Calibri"/>
              </a:rPr>
              <a:t>Final dashboard displays insights, gaps, knowledge graph, and AI-generated ideas</a:t>
            </a:r>
            <a:endParaRPr sz="1500">
              <a:solidFill>
                <a:schemeClr val="dk1"/>
              </a:solidFill>
              <a:latin typeface="Calibri"/>
              <a:ea typeface="Calibri"/>
              <a:cs typeface="Calibri"/>
              <a:sym typeface="Calibri"/>
            </a:endParaRPr>
          </a:p>
          <a:p>
            <a:pPr indent="0" lvl="0" marL="0" rtl="0" algn="l">
              <a:lnSpc>
                <a:spcPct val="100000"/>
              </a:lnSpc>
              <a:spcBef>
                <a:spcPts val="2400"/>
              </a:spcBef>
              <a:spcAft>
                <a:spcPts val="0"/>
              </a:spcAft>
              <a:buNone/>
            </a:pPr>
            <a:r>
              <a:rPr b="1" lang="en-IN" sz="1500">
                <a:solidFill>
                  <a:schemeClr val="dk1"/>
                </a:solidFill>
                <a:latin typeface="Calibri"/>
                <a:ea typeface="Calibri"/>
                <a:cs typeface="Calibri"/>
                <a:sym typeface="Calibri"/>
              </a:rPr>
              <a:t>How User Interacts</a:t>
            </a:r>
            <a:endParaRPr b="1" sz="1500">
              <a:solidFill>
                <a:schemeClr val="dk1"/>
              </a:solidFill>
              <a:latin typeface="Calibri"/>
              <a:ea typeface="Calibri"/>
              <a:cs typeface="Calibri"/>
              <a:sym typeface="Calibri"/>
            </a:endParaRPr>
          </a:p>
          <a:p>
            <a:pPr indent="-323850" lvl="0" marL="457200" rtl="0" algn="l">
              <a:lnSpc>
                <a:spcPct val="100000"/>
              </a:lnSpc>
              <a:spcBef>
                <a:spcPts val="1200"/>
              </a:spcBef>
              <a:spcAft>
                <a:spcPts val="0"/>
              </a:spcAft>
              <a:buClr>
                <a:schemeClr val="dk1"/>
              </a:buClr>
              <a:buSzPts val="1500"/>
              <a:buFont typeface="Calibri"/>
              <a:buChar char="●"/>
            </a:pPr>
            <a:r>
              <a:rPr lang="en-IN" sz="1500">
                <a:solidFill>
                  <a:schemeClr val="dk1"/>
                </a:solidFill>
                <a:latin typeface="Calibri"/>
                <a:ea typeface="Calibri"/>
                <a:cs typeface="Calibri"/>
                <a:sym typeface="Calibri"/>
              </a:rPr>
              <a:t>User searches using natural language queries</a:t>
            </a:r>
            <a:endParaRPr sz="1500">
              <a:solidFill>
                <a:schemeClr val="dk1"/>
              </a:solidFill>
              <a:latin typeface="Calibri"/>
              <a:ea typeface="Calibri"/>
              <a:cs typeface="Calibri"/>
              <a:sym typeface="Calibri"/>
            </a:endParaRPr>
          </a:p>
          <a:p>
            <a:pPr indent="-323850" lvl="0" marL="457200" rtl="0" algn="l">
              <a:lnSpc>
                <a:spcPct val="100000"/>
              </a:lnSpc>
              <a:spcBef>
                <a:spcPts val="0"/>
              </a:spcBef>
              <a:spcAft>
                <a:spcPts val="0"/>
              </a:spcAft>
              <a:buClr>
                <a:schemeClr val="dk1"/>
              </a:buClr>
              <a:buSzPts val="1500"/>
              <a:buFont typeface="Calibri"/>
              <a:buChar char="●"/>
            </a:pPr>
            <a:r>
              <a:rPr lang="en-IN" sz="1500">
                <a:solidFill>
                  <a:schemeClr val="dk1"/>
                </a:solidFill>
                <a:latin typeface="Calibri"/>
                <a:ea typeface="Calibri"/>
                <a:cs typeface="Calibri"/>
                <a:sym typeface="Calibri"/>
              </a:rPr>
              <a:t>Live multi-agent workflow is visualized step-by-step</a:t>
            </a:r>
            <a:endParaRPr sz="1500">
              <a:solidFill>
                <a:schemeClr val="dk1"/>
              </a:solidFill>
              <a:latin typeface="Calibri"/>
              <a:ea typeface="Calibri"/>
              <a:cs typeface="Calibri"/>
              <a:sym typeface="Calibri"/>
            </a:endParaRPr>
          </a:p>
          <a:p>
            <a:pPr indent="-323850" lvl="0" marL="457200" rtl="0" algn="l">
              <a:lnSpc>
                <a:spcPct val="100000"/>
              </a:lnSpc>
              <a:spcBef>
                <a:spcPts val="0"/>
              </a:spcBef>
              <a:spcAft>
                <a:spcPts val="0"/>
              </a:spcAft>
              <a:buClr>
                <a:schemeClr val="dk1"/>
              </a:buClr>
              <a:buSzPts val="1500"/>
              <a:buFont typeface="Calibri"/>
              <a:buChar char="●"/>
            </a:pPr>
            <a:r>
              <a:rPr lang="en-IN" sz="1500">
                <a:solidFill>
                  <a:schemeClr val="dk1"/>
                </a:solidFill>
                <a:latin typeface="Calibri"/>
                <a:ea typeface="Calibri"/>
                <a:cs typeface="Calibri"/>
                <a:sym typeface="Calibri"/>
              </a:rPr>
              <a:t>Users can explore papers, detected gaps, and connected research domains</a:t>
            </a:r>
            <a:endParaRPr sz="1500">
              <a:solidFill>
                <a:schemeClr val="dk1"/>
              </a:solidFill>
              <a:latin typeface="Calibri"/>
              <a:ea typeface="Calibri"/>
              <a:cs typeface="Calibri"/>
              <a:sym typeface="Calibri"/>
            </a:endParaRPr>
          </a:p>
          <a:p>
            <a:pPr indent="-323850" lvl="0" marL="457200" rtl="0" algn="l">
              <a:lnSpc>
                <a:spcPct val="100000"/>
              </a:lnSpc>
              <a:spcBef>
                <a:spcPts val="0"/>
              </a:spcBef>
              <a:spcAft>
                <a:spcPts val="0"/>
              </a:spcAft>
              <a:buClr>
                <a:schemeClr val="dk1"/>
              </a:buClr>
              <a:buSzPts val="1500"/>
              <a:buFont typeface="Calibri"/>
              <a:buChar char="●"/>
            </a:pPr>
            <a:r>
              <a:rPr lang="en-IN" sz="1500">
                <a:solidFill>
                  <a:schemeClr val="dk1"/>
                </a:solidFill>
                <a:latin typeface="Calibri"/>
                <a:ea typeface="Calibri"/>
                <a:cs typeface="Calibri"/>
                <a:sym typeface="Calibri"/>
              </a:rPr>
              <a:t>Interactive knowledge graph shows relationships between concepts and papers</a:t>
            </a:r>
            <a:endParaRPr sz="1500">
              <a:solidFill>
                <a:schemeClr val="dk1"/>
              </a:solidFill>
              <a:latin typeface="Calibri"/>
              <a:ea typeface="Calibri"/>
              <a:cs typeface="Calibri"/>
              <a:sym typeface="Calibri"/>
            </a:endParaRPr>
          </a:p>
          <a:p>
            <a:pPr indent="-323850" lvl="0" marL="457200" rtl="0" algn="l">
              <a:lnSpc>
                <a:spcPct val="100000"/>
              </a:lnSpc>
              <a:spcBef>
                <a:spcPts val="0"/>
              </a:spcBef>
              <a:spcAft>
                <a:spcPts val="0"/>
              </a:spcAft>
              <a:buClr>
                <a:schemeClr val="dk1"/>
              </a:buClr>
              <a:buSzPts val="1500"/>
              <a:buFont typeface="Calibri"/>
              <a:buChar char="●"/>
            </a:pPr>
            <a:r>
              <a:rPr lang="en-IN" sz="1500">
                <a:solidFill>
                  <a:schemeClr val="dk1"/>
                </a:solidFill>
                <a:latin typeface="Calibri"/>
                <a:ea typeface="Calibri"/>
                <a:cs typeface="Calibri"/>
                <a:sym typeface="Calibri"/>
              </a:rPr>
              <a:t>Final research report can be viewed, copied, or downloaded instantly</a:t>
            </a:r>
            <a:endParaRPr sz="1500">
              <a:solidFill>
                <a:schemeClr val="dk1"/>
              </a:solidFill>
              <a:latin typeface="Calibri"/>
              <a:ea typeface="Calibri"/>
              <a:cs typeface="Calibri"/>
              <a:sym typeface="Calibri"/>
            </a:endParaRPr>
          </a:p>
          <a:p>
            <a:pPr indent="0" lvl="0" marL="0" rtl="0" algn="l">
              <a:lnSpc>
                <a:spcPct val="100000"/>
              </a:lnSpc>
              <a:spcBef>
                <a:spcPts val="2400"/>
              </a:spcBef>
              <a:spcAft>
                <a:spcPts val="0"/>
              </a:spcAft>
              <a:buNone/>
            </a:pPr>
            <a:r>
              <a:rPr b="1" lang="en-IN" sz="1500">
                <a:solidFill>
                  <a:schemeClr val="dk1"/>
                </a:solidFill>
                <a:latin typeface="Calibri"/>
                <a:ea typeface="Calibri"/>
                <a:cs typeface="Calibri"/>
                <a:sym typeface="Calibri"/>
              </a:rPr>
              <a:t>Key Moments</a:t>
            </a:r>
            <a:endParaRPr b="1" sz="1500">
              <a:solidFill>
                <a:schemeClr val="dk1"/>
              </a:solidFill>
              <a:latin typeface="Calibri"/>
              <a:ea typeface="Calibri"/>
              <a:cs typeface="Calibri"/>
              <a:sym typeface="Calibri"/>
            </a:endParaRPr>
          </a:p>
          <a:p>
            <a:pPr indent="-323850" lvl="0" marL="457200" rtl="0" algn="l">
              <a:lnSpc>
                <a:spcPct val="100000"/>
              </a:lnSpc>
              <a:spcBef>
                <a:spcPts val="1200"/>
              </a:spcBef>
              <a:spcAft>
                <a:spcPts val="0"/>
              </a:spcAft>
              <a:buClr>
                <a:schemeClr val="dk1"/>
              </a:buClr>
              <a:buSzPts val="1500"/>
              <a:buFont typeface="Calibri"/>
              <a:buChar char="●"/>
            </a:pPr>
            <a:r>
              <a:rPr lang="en-IN" sz="1500">
                <a:solidFill>
                  <a:schemeClr val="dk1"/>
                </a:solidFill>
                <a:latin typeface="Calibri"/>
                <a:ea typeface="Calibri"/>
                <a:cs typeface="Calibri"/>
                <a:sym typeface="Calibri"/>
              </a:rPr>
              <a:t> Query transforms into structured research analysis in minute</a:t>
            </a:r>
            <a:r>
              <a:rPr lang="en-IN" sz="1500">
                <a:solidFill>
                  <a:schemeClr val="dk1"/>
                </a:solidFill>
                <a:latin typeface="Calibri"/>
                <a:ea typeface="Calibri"/>
                <a:cs typeface="Calibri"/>
                <a:sym typeface="Calibri"/>
              </a:rPr>
              <a:t>s</a:t>
            </a:r>
            <a:endParaRPr sz="1500">
              <a:solidFill>
                <a:schemeClr val="dk1"/>
              </a:solidFill>
              <a:latin typeface="Calibri"/>
              <a:ea typeface="Calibri"/>
              <a:cs typeface="Calibri"/>
              <a:sym typeface="Calibri"/>
            </a:endParaRPr>
          </a:p>
          <a:p>
            <a:pPr indent="-323850" lvl="0" marL="457200" rtl="0" algn="l">
              <a:lnSpc>
                <a:spcPct val="100000"/>
              </a:lnSpc>
              <a:spcBef>
                <a:spcPts val="0"/>
              </a:spcBef>
              <a:spcAft>
                <a:spcPts val="0"/>
              </a:spcAft>
              <a:buClr>
                <a:schemeClr val="dk1"/>
              </a:buClr>
              <a:buSzPts val="1500"/>
              <a:buFont typeface="Calibri"/>
              <a:buChar char="●"/>
            </a:pPr>
            <a:r>
              <a:rPr lang="en-IN" sz="1500">
                <a:solidFill>
                  <a:schemeClr val="dk1"/>
                </a:solidFill>
                <a:latin typeface="Calibri"/>
                <a:ea typeface="Calibri"/>
                <a:cs typeface="Calibri"/>
                <a:sym typeface="Calibri"/>
              </a:rPr>
              <a:t>Knowledge Graph visualizes hidden relationships across research areas</a:t>
            </a:r>
            <a:endParaRPr sz="1500">
              <a:solidFill>
                <a:schemeClr val="dk1"/>
              </a:solidFill>
              <a:latin typeface="Calibri"/>
              <a:ea typeface="Calibri"/>
              <a:cs typeface="Calibri"/>
              <a:sym typeface="Calibri"/>
            </a:endParaRPr>
          </a:p>
          <a:p>
            <a:pPr indent="-323850" lvl="0" marL="457200" rtl="0" algn="l">
              <a:lnSpc>
                <a:spcPct val="100000"/>
              </a:lnSpc>
              <a:spcBef>
                <a:spcPts val="0"/>
              </a:spcBef>
              <a:spcAft>
                <a:spcPts val="0"/>
              </a:spcAft>
              <a:buClr>
                <a:schemeClr val="dk1"/>
              </a:buClr>
              <a:buSzPts val="1500"/>
              <a:buFont typeface="Calibri"/>
              <a:buChar char="●"/>
            </a:pPr>
            <a:r>
              <a:rPr lang="en-IN" sz="1500">
                <a:solidFill>
                  <a:schemeClr val="dk1"/>
                </a:solidFill>
                <a:latin typeface="Calibri"/>
                <a:ea typeface="Calibri"/>
                <a:cs typeface="Calibri"/>
                <a:sym typeface="Calibri"/>
              </a:rPr>
              <a:t> Gap Detection highlights unexplored opportunities and missing links</a:t>
            </a:r>
            <a:endParaRPr sz="1500">
              <a:solidFill>
                <a:schemeClr val="dk1"/>
              </a:solidFill>
              <a:latin typeface="Calibri"/>
              <a:ea typeface="Calibri"/>
              <a:cs typeface="Calibri"/>
              <a:sym typeface="Calibri"/>
            </a:endParaRPr>
          </a:p>
          <a:p>
            <a:pPr indent="-323850" lvl="0" marL="457200" rtl="0" algn="l">
              <a:lnSpc>
                <a:spcPct val="100000"/>
              </a:lnSpc>
              <a:spcBef>
                <a:spcPts val="0"/>
              </a:spcBef>
              <a:spcAft>
                <a:spcPts val="0"/>
              </a:spcAft>
              <a:buClr>
                <a:schemeClr val="dk1"/>
              </a:buClr>
              <a:buSzPts val="1500"/>
              <a:buFont typeface="Calibri"/>
              <a:buChar char="●"/>
            </a:pPr>
            <a:r>
              <a:rPr lang="en-IN" sz="1500">
                <a:solidFill>
                  <a:schemeClr val="dk1"/>
                </a:solidFill>
                <a:latin typeface="Calibri"/>
                <a:ea typeface="Calibri"/>
                <a:cs typeface="Calibri"/>
                <a:sym typeface="Calibri"/>
              </a:rPr>
              <a:t> AI generates innovative, actionable project ideas with reasoning</a:t>
            </a:r>
            <a:endParaRPr sz="1500">
              <a:solidFill>
                <a:schemeClr val="dk1"/>
              </a:solidFill>
              <a:latin typeface="Calibri"/>
              <a:ea typeface="Calibri"/>
              <a:cs typeface="Calibri"/>
              <a:sym typeface="Calibri"/>
            </a:endParaRPr>
          </a:p>
          <a:p>
            <a:pPr indent="-323850" lvl="0" marL="457200" rtl="0" algn="l">
              <a:lnSpc>
                <a:spcPct val="100000"/>
              </a:lnSpc>
              <a:spcBef>
                <a:spcPts val="0"/>
              </a:spcBef>
              <a:spcAft>
                <a:spcPts val="0"/>
              </a:spcAft>
              <a:buClr>
                <a:schemeClr val="dk1"/>
              </a:buClr>
              <a:buSzPts val="1500"/>
              <a:buFont typeface="Calibri"/>
              <a:buChar char="●"/>
            </a:pPr>
            <a:r>
              <a:rPr lang="en-IN" sz="1500">
                <a:solidFill>
                  <a:schemeClr val="dk1"/>
                </a:solidFill>
                <a:latin typeface="Calibri"/>
                <a:ea typeface="Calibri"/>
                <a:cs typeface="Calibri"/>
                <a:sym typeface="Calibri"/>
              </a:rPr>
              <a:t> Final report combines insights, gaps, sources, and future directions in one place</a:t>
            </a:r>
            <a:endParaRPr sz="15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6"/>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47" name="Google Shape;147;p6"/>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Tech &amp; Architecture</a:t>
            </a:r>
            <a:endParaRPr sz="4267">
              <a:solidFill>
                <a:schemeClr val="dk1"/>
              </a:solidFill>
              <a:latin typeface="Calibri"/>
              <a:ea typeface="Calibri"/>
              <a:cs typeface="Calibri"/>
              <a:sym typeface="Calibri"/>
            </a:endParaRPr>
          </a:p>
        </p:txBody>
      </p:sp>
      <p:sp>
        <p:nvSpPr>
          <p:cNvPr id="148" name="Google Shape;148;p6"/>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graphicFrame>
        <p:nvGraphicFramePr>
          <p:cNvPr id="149" name="Google Shape;149;p6"/>
          <p:cNvGraphicFramePr/>
          <p:nvPr/>
        </p:nvGraphicFramePr>
        <p:xfrm>
          <a:off x="5465162" y="1523988"/>
          <a:ext cx="3000000" cy="3000000"/>
        </p:xfrm>
        <a:graphic>
          <a:graphicData uri="http://schemas.openxmlformats.org/drawingml/2006/table">
            <a:tbl>
              <a:tblPr>
                <a:noFill/>
                <a:tableStyleId>{1295F5B6-B17B-49A5-8B2D-4E18F70E88C2}</a:tableStyleId>
              </a:tblPr>
              <a:tblGrid>
                <a:gridCol w="1892125"/>
                <a:gridCol w="1892125"/>
              </a:tblGrid>
              <a:tr h="272925">
                <a:tc>
                  <a:txBody>
                    <a:bodyPr/>
                    <a:lstStyle/>
                    <a:p>
                      <a:pPr indent="0" lvl="0" marL="0" rtl="0" algn="l">
                        <a:spcBef>
                          <a:spcPts val="0"/>
                        </a:spcBef>
                        <a:spcAft>
                          <a:spcPts val="0"/>
                        </a:spcAft>
                        <a:buNone/>
                      </a:pPr>
                      <a:r>
                        <a:rPr b="1" lang="en-IN">
                          <a:latin typeface="Calibri"/>
                          <a:ea typeface="Calibri"/>
                          <a:cs typeface="Calibri"/>
                          <a:sym typeface="Calibri"/>
                        </a:rPr>
                        <a:t>LAYER</a:t>
                      </a:r>
                      <a:endParaRPr b="1">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n-IN">
                          <a:latin typeface="Calibri"/>
                          <a:ea typeface="Calibri"/>
                          <a:cs typeface="Calibri"/>
                          <a:sym typeface="Calibri"/>
                        </a:rPr>
                        <a:t>TECHNOLOGY</a:t>
                      </a:r>
                      <a:endParaRPr b="1">
                        <a:latin typeface="Calibri"/>
                        <a:ea typeface="Calibri"/>
                        <a:cs typeface="Calibri"/>
                        <a:sym typeface="Calibri"/>
                      </a:endParaRPr>
                    </a:p>
                  </a:txBody>
                  <a:tcPr marT="91425" marB="91425" marR="91425" marL="91425"/>
                </a:tc>
              </a:tr>
              <a:tr h="419900">
                <a:tc>
                  <a:txBody>
                    <a:bodyPr/>
                    <a:lstStyle/>
                    <a:p>
                      <a:pPr indent="0" lvl="0" marL="0" rtl="0" algn="l">
                        <a:spcBef>
                          <a:spcPts val="0"/>
                        </a:spcBef>
                        <a:spcAft>
                          <a:spcPts val="0"/>
                        </a:spcAft>
                        <a:buNone/>
                      </a:pPr>
                      <a:r>
                        <a:rPr lang="en-IN">
                          <a:latin typeface="Calibri"/>
                          <a:ea typeface="Calibri"/>
                          <a:cs typeface="Calibri"/>
                          <a:sym typeface="Calibri"/>
                        </a:rPr>
                        <a:t>Frontend</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a:latin typeface="Calibri"/>
                          <a:ea typeface="Calibri"/>
                          <a:cs typeface="Calibri"/>
                          <a:sym typeface="Calibri"/>
                        </a:rPr>
                        <a:t>React 18, </a:t>
                      </a:r>
                      <a:r>
                        <a:rPr lang="en-IN" u="sng">
                          <a:solidFill>
                            <a:schemeClr val="hlink"/>
                          </a:solidFill>
                          <a:latin typeface="Calibri"/>
                          <a:ea typeface="Calibri"/>
                          <a:cs typeface="Calibri"/>
                          <a:sym typeface="Calibri"/>
                          <a:hlinkClick r:id="rId3"/>
                        </a:rPr>
                        <a:t>D3.js</a:t>
                      </a:r>
                      <a:r>
                        <a:rPr lang="en-IN">
                          <a:latin typeface="Calibri"/>
                          <a:ea typeface="Calibri"/>
                          <a:cs typeface="Calibri"/>
                          <a:sym typeface="Calibri"/>
                        </a:rPr>
                        <a:t>, Tailwind CSS</a:t>
                      </a:r>
                      <a:endParaRPr>
                        <a:latin typeface="Calibri"/>
                        <a:ea typeface="Calibri"/>
                        <a:cs typeface="Calibri"/>
                        <a:sym typeface="Calibri"/>
                      </a:endParaRPr>
                    </a:p>
                  </a:txBody>
                  <a:tcPr marT="91425" marB="91425" marR="91425" marL="91425"/>
                </a:tc>
              </a:tr>
              <a:tr h="272925">
                <a:tc>
                  <a:txBody>
                    <a:bodyPr/>
                    <a:lstStyle/>
                    <a:p>
                      <a:pPr indent="0" lvl="0" marL="0" rtl="0" algn="l">
                        <a:spcBef>
                          <a:spcPts val="0"/>
                        </a:spcBef>
                        <a:spcAft>
                          <a:spcPts val="0"/>
                        </a:spcAft>
                        <a:buNone/>
                      </a:pPr>
                      <a:r>
                        <a:rPr lang="en-IN">
                          <a:latin typeface="Calibri"/>
                          <a:ea typeface="Calibri"/>
                          <a:cs typeface="Calibri"/>
                          <a:sym typeface="Calibri"/>
                        </a:rPr>
                        <a:t>Backend</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a:latin typeface="Calibri"/>
                          <a:ea typeface="Calibri"/>
                          <a:cs typeface="Calibri"/>
                          <a:sym typeface="Calibri"/>
                        </a:rPr>
                        <a:t>Python, FastAPI, SQLite</a:t>
                      </a:r>
                      <a:endParaRPr>
                        <a:latin typeface="Calibri"/>
                        <a:ea typeface="Calibri"/>
                        <a:cs typeface="Calibri"/>
                        <a:sym typeface="Calibri"/>
                      </a:endParaRPr>
                    </a:p>
                  </a:txBody>
                  <a:tcPr marT="91425" marB="91425" marR="91425" marL="91425"/>
                </a:tc>
              </a:tr>
              <a:tr h="272925">
                <a:tc>
                  <a:txBody>
                    <a:bodyPr/>
                    <a:lstStyle/>
                    <a:p>
                      <a:pPr indent="0" lvl="0" marL="0" rtl="0" algn="l">
                        <a:spcBef>
                          <a:spcPts val="0"/>
                        </a:spcBef>
                        <a:spcAft>
                          <a:spcPts val="0"/>
                        </a:spcAft>
                        <a:buNone/>
                      </a:pPr>
                      <a:r>
                        <a:rPr lang="en-IN">
                          <a:latin typeface="Calibri"/>
                          <a:ea typeface="Calibri"/>
                          <a:cs typeface="Calibri"/>
                          <a:sym typeface="Calibri"/>
                        </a:rPr>
                        <a:t>Streaming</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a:latin typeface="Calibri"/>
                          <a:ea typeface="Calibri"/>
                          <a:cs typeface="Calibri"/>
                          <a:sym typeface="Calibri"/>
                        </a:rPr>
                        <a:t>Server-Sent Events</a:t>
                      </a:r>
                      <a:endParaRPr>
                        <a:latin typeface="Calibri"/>
                        <a:ea typeface="Calibri"/>
                        <a:cs typeface="Calibri"/>
                        <a:sym typeface="Calibri"/>
                      </a:endParaRPr>
                    </a:p>
                  </a:txBody>
                  <a:tcPr marT="91425" marB="91425" marR="91425" marL="91425"/>
                </a:tc>
              </a:tr>
              <a:tr h="272925">
                <a:tc>
                  <a:txBody>
                    <a:bodyPr/>
                    <a:lstStyle/>
                    <a:p>
                      <a:pPr indent="0" lvl="0" marL="0" rtl="0" algn="l">
                        <a:spcBef>
                          <a:spcPts val="0"/>
                        </a:spcBef>
                        <a:spcAft>
                          <a:spcPts val="0"/>
                        </a:spcAft>
                        <a:buNone/>
                      </a:pPr>
                      <a:r>
                        <a:rPr lang="en-IN">
                          <a:latin typeface="Calibri"/>
                          <a:ea typeface="Calibri"/>
                          <a:cs typeface="Calibri"/>
                          <a:sym typeface="Calibri"/>
                        </a:rPr>
                        <a:t>CLI</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u="sng">
                          <a:solidFill>
                            <a:schemeClr val="hlink"/>
                          </a:solidFill>
                          <a:latin typeface="Calibri"/>
                          <a:ea typeface="Calibri"/>
                          <a:cs typeface="Calibri"/>
                          <a:sym typeface="Calibri"/>
                          <a:hlinkClick r:id="rId4"/>
                        </a:rPr>
                        <a:t>Node.js</a:t>
                      </a:r>
                      <a:r>
                        <a:rPr lang="en-IN">
                          <a:latin typeface="Calibri"/>
                          <a:ea typeface="Calibri"/>
                          <a:cs typeface="Calibri"/>
                          <a:sym typeface="Calibri"/>
                        </a:rPr>
                        <a:t>, TypeScript</a:t>
                      </a:r>
                      <a:endParaRPr>
                        <a:latin typeface="Calibri"/>
                        <a:ea typeface="Calibri"/>
                        <a:cs typeface="Calibri"/>
                        <a:sym typeface="Calibri"/>
                      </a:endParaRPr>
                    </a:p>
                  </a:txBody>
                  <a:tcPr marT="91425" marB="91425" marR="91425" marL="91425"/>
                </a:tc>
              </a:tr>
              <a:tr h="272925">
                <a:tc>
                  <a:txBody>
                    <a:bodyPr/>
                    <a:lstStyle/>
                    <a:p>
                      <a:pPr indent="0" lvl="0" marL="0" rtl="0" algn="l">
                        <a:spcBef>
                          <a:spcPts val="0"/>
                        </a:spcBef>
                        <a:spcAft>
                          <a:spcPts val="0"/>
                        </a:spcAft>
                        <a:buNone/>
                      </a:pPr>
                      <a:r>
                        <a:rPr lang="en-IN">
                          <a:latin typeface="Calibri"/>
                          <a:ea typeface="Calibri"/>
                          <a:cs typeface="Calibri"/>
                          <a:sym typeface="Calibri"/>
                        </a:rPr>
                        <a:t>Deployment</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a:latin typeface="Calibri"/>
                          <a:ea typeface="Calibri"/>
                          <a:cs typeface="Calibri"/>
                          <a:sym typeface="Calibri"/>
                        </a:rPr>
                        <a:t>Docker, Nginx</a:t>
                      </a:r>
                      <a:endParaRPr>
                        <a:latin typeface="Calibri"/>
                        <a:ea typeface="Calibri"/>
                        <a:cs typeface="Calibri"/>
                        <a:sym typeface="Calibri"/>
                      </a:endParaRPr>
                    </a:p>
                  </a:txBody>
                  <a:tcPr marT="91425" marB="91425" marR="91425" marL="91425"/>
                </a:tc>
              </a:tr>
            </a:tbl>
          </a:graphicData>
        </a:graphic>
      </p:graphicFrame>
      <p:sp>
        <p:nvSpPr>
          <p:cNvPr id="150" name="Google Shape;150;p6"/>
          <p:cNvSpPr txBox="1"/>
          <p:nvPr/>
        </p:nvSpPr>
        <p:spPr>
          <a:xfrm>
            <a:off x="5301220" y="4343814"/>
            <a:ext cx="6986400" cy="225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1700">
                <a:latin typeface="Calibri"/>
                <a:ea typeface="Calibri"/>
                <a:cs typeface="Calibri"/>
                <a:sym typeface="Calibri"/>
              </a:rPr>
              <a:t>AI Usage: </a:t>
            </a:r>
            <a:endParaRPr sz="1700">
              <a:latin typeface="Calibri"/>
              <a:ea typeface="Calibri"/>
              <a:cs typeface="Calibri"/>
              <a:sym typeface="Calibri"/>
            </a:endParaRPr>
          </a:p>
          <a:p>
            <a:pPr indent="0" lvl="0" marL="0" rtl="0" algn="l">
              <a:lnSpc>
                <a:spcPct val="115000"/>
              </a:lnSpc>
              <a:spcBef>
                <a:spcPts val="0"/>
              </a:spcBef>
              <a:spcAft>
                <a:spcPts val="0"/>
              </a:spcAft>
              <a:buNone/>
            </a:pPr>
            <a:r>
              <a:rPr lang="en-IN" sz="1700">
                <a:latin typeface="Calibri"/>
                <a:ea typeface="Calibri"/>
                <a:cs typeface="Calibri"/>
                <a:sym typeface="Calibri"/>
              </a:rPr>
              <a:t>Model: GPT-4o / Claude 3.5 (via OpenAI &amp; Anthropic APIs)</a:t>
            </a:r>
            <a:endParaRPr sz="1700">
              <a:latin typeface="Calibri"/>
              <a:ea typeface="Calibri"/>
              <a:cs typeface="Calibri"/>
              <a:sym typeface="Calibri"/>
            </a:endParaRPr>
          </a:p>
          <a:p>
            <a:pPr indent="0" lvl="0" marL="0" rtl="0" algn="l">
              <a:lnSpc>
                <a:spcPct val="115000"/>
              </a:lnSpc>
              <a:spcBef>
                <a:spcPts val="0"/>
              </a:spcBef>
              <a:spcAft>
                <a:spcPts val="0"/>
              </a:spcAft>
              <a:buNone/>
            </a:pPr>
            <a:r>
              <a:rPr lang="en-IN" sz="1700">
                <a:latin typeface="Calibri"/>
                <a:ea typeface="Calibri"/>
                <a:cs typeface="Calibri"/>
                <a:sym typeface="Calibri"/>
              </a:rPr>
              <a:t>Embeddings: OpenAI text-embedding-3-small → falls back to HuggingFace all-MiniLM-L6-v2 (runs fully local, no API key needed)</a:t>
            </a:r>
            <a:endParaRPr sz="1700">
              <a:latin typeface="Calibri"/>
              <a:ea typeface="Calibri"/>
              <a:cs typeface="Calibri"/>
              <a:sym typeface="Calibri"/>
            </a:endParaRPr>
          </a:p>
          <a:p>
            <a:pPr indent="0" lvl="0" marL="0" rtl="0" algn="l">
              <a:lnSpc>
                <a:spcPct val="115000"/>
              </a:lnSpc>
              <a:spcBef>
                <a:spcPts val="0"/>
              </a:spcBef>
              <a:spcAft>
                <a:spcPts val="0"/>
              </a:spcAft>
              <a:buNone/>
            </a:pPr>
            <a:r>
              <a:rPr lang="en-IN" sz="1700">
                <a:latin typeface="Calibri"/>
                <a:ea typeface="Calibri"/>
                <a:cs typeface="Calibri"/>
                <a:sym typeface="Calibri"/>
              </a:rPr>
              <a:t>Framework: Custom OpenClaw multi-agent orchestration — routes each agent to Edge (fast, local) or Cloud (powerful, async) execution based on task complexity</a:t>
            </a:r>
            <a:endParaRPr sz="1700">
              <a:latin typeface="Calibri"/>
              <a:ea typeface="Calibri"/>
              <a:cs typeface="Calibri"/>
              <a:sym typeface="Calibri"/>
            </a:endParaRPr>
          </a:p>
        </p:txBody>
      </p:sp>
      <p:sp>
        <p:nvSpPr>
          <p:cNvPr id="151" name="Google Shape;151;p6"/>
          <p:cNvSpPr txBox="1"/>
          <p:nvPr/>
        </p:nvSpPr>
        <p:spPr>
          <a:xfrm>
            <a:off x="122959" y="1633725"/>
            <a:ext cx="6683100" cy="449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a:latin typeface="Calibri"/>
                <a:ea typeface="Calibri"/>
                <a:cs typeface="Calibri"/>
                <a:sym typeface="Calibri"/>
              </a:rPr>
              <a:t>System Flow</a:t>
            </a:r>
            <a:endParaRPr b="1">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User Query</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    ↓</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Decomposer → breaks query into sub-questions</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    ↓</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Planner → builds targeted search strategy</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    ↓</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Search Agent → hits arXiv + GitHub APIs in parallel</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    ↓</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Analyzer → deduplicates, ranks, extracts findings</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    ↓</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Graph Builder → nodes + keyword/semantic edges</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    ↓</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Gap Detector → finds unexplored research areas</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    ↓</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Idea Generator → scores ideas by impact · feasibility · novelty</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    ↓</a:t>
            </a:r>
            <a:endParaRPr>
              <a:latin typeface="Calibri"/>
              <a:ea typeface="Calibri"/>
              <a:cs typeface="Calibri"/>
              <a:sym typeface="Calibri"/>
            </a:endParaRPr>
          </a:p>
          <a:p>
            <a:pPr indent="0" lvl="0" marL="0" rtl="0" algn="l">
              <a:spcBef>
                <a:spcPts val="0"/>
              </a:spcBef>
              <a:spcAft>
                <a:spcPts val="0"/>
              </a:spcAft>
              <a:buNone/>
            </a:pPr>
            <a:r>
              <a:rPr lang="en-IN">
                <a:latin typeface="Calibri"/>
                <a:ea typeface="Calibri"/>
                <a:cs typeface="Calibri"/>
                <a:sym typeface="Calibri"/>
              </a:rPr>
              <a:t>Synthesizer → final markdown report</a:t>
            </a:r>
            <a:endParaRPr>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60" name="Google Shape;160;p7"/>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Impact &amp; Use cases</a:t>
            </a:r>
            <a:endParaRPr sz="4267">
              <a:solidFill>
                <a:schemeClr val="dk1"/>
              </a:solidFill>
              <a:latin typeface="Calibri"/>
              <a:ea typeface="Calibri"/>
              <a:cs typeface="Calibri"/>
              <a:sym typeface="Calibri"/>
            </a:endParaRPr>
          </a:p>
        </p:txBody>
      </p:sp>
      <p:sp>
        <p:nvSpPr>
          <p:cNvPr id="161" name="Google Shape;161;p7"/>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162" name="Google Shape;162;p7"/>
          <p:cNvSpPr txBox="1"/>
          <p:nvPr/>
        </p:nvSpPr>
        <p:spPr>
          <a:xfrm>
            <a:off x="740504" y="1682950"/>
            <a:ext cx="10842000" cy="46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Real life scenario:</a:t>
            </a:r>
            <a:endParaRPr sz="1800">
              <a:solidFill>
                <a:schemeClr val="dk1"/>
              </a:solidFill>
              <a:latin typeface="Calibri"/>
              <a:ea typeface="Calibri"/>
              <a:cs typeface="Calibri"/>
              <a:sym typeface="Calibri"/>
            </a:endParaRPr>
          </a:p>
          <a:p>
            <a:pPr indent="-330200" lvl="0" marL="457200" rtl="0" algn="l">
              <a:lnSpc>
                <a:spcPct val="115000"/>
              </a:lnSpc>
              <a:spcBef>
                <a:spcPts val="1400"/>
              </a:spcBef>
              <a:spcAft>
                <a:spcPts val="0"/>
              </a:spcAft>
              <a:buClr>
                <a:schemeClr val="dk1"/>
              </a:buClr>
              <a:buSzPts val="1600"/>
              <a:buChar char="●"/>
            </a:pPr>
            <a:r>
              <a:rPr b="1" lang="en-IN" sz="1600">
                <a:solidFill>
                  <a:schemeClr val="dk1"/>
                </a:solidFill>
                <a:latin typeface="Calibri"/>
                <a:ea typeface="Calibri"/>
                <a:cs typeface="Calibri"/>
                <a:sym typeface="Calibri"/>
              </a:rPr>
              <a:t>Academic Research: </a:t>
            </a:r>
            <a:r>
              <a:rPr lang="en-IN" sz="1600">
                <a:solidFill>
                  <a:schemeClr val="dk1"/>
                </a:solidFill>
                <a:latin typeface="Calibri"/>
                <a:ea typeface="Calibri"/>
                <a:cs typeface="Calibri"/>
                <a:sym typeface="Calibri"/>
              </a:rPr>
              <a:t>Helps students and researchers quickly identify unique research ideas and unexplored topics, reducing time spent on literature review.</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Char char="●"/>
            </a:pPr>
            <a:r>
              <a:rPr b="1" lang="en-IN" sz="1600">
                <a:solidFill>
                  <a:schemeClr val="dk1"/>
                </a:solidFill>
                <a:latin typeface="Calibri"/>
                <a:ea typeface="Calibri"/>
                <a:cs typeface="Calibri"/>
                <a:sym typeface="Calibri"/>
              </a:rPr>
              <a:t>Tech Company R&amp;D: </a:t>
            </a:r>
            <a:r>
              <a:rPr lang="en-IN" sz="1600">
                <a:solidFill>
                  <a:schemeClr val="dk1"/>
                </a:solidFill>
                <a:latin typeface="Calibri"/>
                <a:ea typeface="Calibri"/>
                <a:cs typeface="Calibri"/>
                <a:sym typeface="Calibri"/>
              </a:rPr>
              <a:t>Assists organizations in discovering emerging AI trends and hidden innovation opportunities for smarter R&amp;D decisions</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Char char="●"/>
            </a:pPr>
            <a:r>
              <a:rPr b="1" lang="en-IN" sz="1600">
                <a:solidFill>
                  <a:schemeClr val="dk1"/>
                </a:solidFill>
                <a:latin typeface="Calibri"/>
                <a:ea typeface="Calibri"/>
                <a:cs typeface="Calibri"/>
                <a:sym typeface="Calibri"/>
              </a:rPr>
              <a:t>Interdisciplinary Research: </a:t>
            </a:r>
            <a:r>
              <a:rPr lang="en-IN" sz="1600">
                <a:solidFill>
                  <a:schemeClr val="dk1"/>
                </a:solidFill>
                <a:latin typeface="Calibri"/>
                <a:ea typeface="Calibri"/>
                <a:cs typeface="Calibri"/>
                <a:sym typeface="Calibri"/>
              </a:rPr>
              <a:t>Detects missing links between domains like healthcare, cybersecurity, and AI to encourage breakthrough research.</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Char char="●"/>
            </a:pPr>
            <a:r>
              <a:rPr b="1" lang="en-IN" sz="1600">
                <a:solidFill>
                  <a:schemeClr val="dk1"/>
                </a:solidFill>
                <a:latin typeface="Calibri"/>
                <a:ea typeface="Calibri"/>
                <a:cs typeface="Calibri"/>
                <a:sym typeface="Calibri"/>
              </a:rPr>
              <a:t>Student Projects &amp; Hackathons: </a:t>
            </a:r>
            <a:r>
              <a:rPr lang="en-IN" sz="1600">
                <a:solidFill>
                  <a:schemeClr val="dk1"/>
                </a:solidFill>
                <a:latin typeface="Calibri"/>
                <a:ea typeface="Calibri"/>
                <a:cs typeface="Calibri"/>
                <a:sym typeface="Calibri"/>
              </a:rPr>
              <a:t>Suggests innovative and feasible project ideas based on current research gaps and trends.</a:t>
            </a:r>
            <a:endParaRPr sz="1600">
              <a:solidFill>
                <a:schemeClr val="dk1"/>
              </a:solidFill>
              <a:latin typeface="Calibri"/>
              <a:ea typeface="Calibri"/>
              <a:cs typeface="Calibri"/>
              <a:sym typeface="Calibri"/>
            </a:endParaRPr>
          </a:p>
          <a:p>
            <a:pPr indent="0" lvl="0" marL="914400" rtl="0" algn="l">
              <a:lnSpc>
                <a:spcPct val="115000"/>
              </a:lnSpc>
              <a:spcBef>
                <a:spcPts val="14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400"/>
              </a:spcBef>
              <a:spcAft>
                <a:spcPts val="0"/>
              </a:spcAft>
              <a:buNone/>
            </a:pPr>
            <a:r>
              <a:rPr lang="en-IN" sz="1800">
                <a:solidFill>
                  <a:schemeClr val="dk1"/>
                </a:solidFill>
                <a:latin typeface="Calibri"/>
                <a:ea typeface="Calibri"/>
                <a:cs typeface="Calibri"/>
                <a:sym typeface="Calibri"/>
              </a:rPr>
              <a:t>Scale Potential :</a:t>
            </a:r>
            <a:endParaRPr sz="1800">
              <a:solidFill>
                <a:schemeClr val="dk1"/>
              </a:solidFill>
              <a:latin typeface="Calibri"/>
              <a:ea typeface="Calibri"/>
              <a:cs typeface="Calibri"/>
              <a:sym typeface="Calibri"/>
            </a:endParaRPr>
          </a:p>
          <a:p>
            <a:pPr indent="-330200" lvl="0" marL="457200" rtl="0" algn="l">
              <a:lnSpc>
                <a:spcPct val="115000"/>
              </a:lnSpc>
              <a:spcBef>
                <a:spcPts val="1200"/>
              </a:spcBef>
              <a:spcAft>
                <a:spcPts val="0"/>
              </a:spcAft>
              <a:buClr>
                <a:schemeClr val="dk1"/>
              </a:buClr>
              <a:buSzPts val="1600"/>
              <a:buFont typeface="Calibri"/>
              <a:buChar char="●"/>
            </a:pPr>
            <a:r>
              <a:rPr lang="en-IN" sz="1600">
                <a:solidFill>
                  <a:schemeClr val="dk1"/>
                </a:solidFill>
                <a:latin typeface="Calibri"/>
                <a:ea typeface="Calibri"/>
                <a:cs typeface="Calibri"/>
                <a:sym typeface="Calibri"/>
              </a:rPr>
              <a:t>Expandable to domains like healthcare, robotics, finance, and cybersecurity.</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Char char="●"/>
            </a:pPr>
            <a:r>
              <a:rPr lang="en-IN" sz="1600">
                <a:solidFill>
                  <a:schemeClr val="dk1"/>
                </a:solidFill>
                <a:latin typeface="Calibri"/>
                <a:ea typeface="Calibri"/>
                <a:cs typeface="Calibri"/>
                <a:sym typeface="Calibri"/>
              </a:rPr>
              <a:t>Useful for universities, research labs, startups, and tech companies.</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Char char="●"/>
            </a:pPr>
            <a:r>
              <a:rPr lang="en-IN" sz="1600">
                <a:solidFill>
                  <a:schemeClr val="dk1"/>
                </a:solidFill>
                <a:latin typeface="Calibri"/>
                <a:ea typeface="Calibri"/>
                <a:cs typeface="Calibri"/>
                <a:sym typeface="Calibri"/>
              </a:rPr>
              <a:t>Can integrate with platforms like arXiv, GitHub, and Google Scholar.</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Char char="●"/>
            </a:pPr>
            <a:r>
              <a:rPr lang="en-IN" sz="1600">
                <a:solidFill>
                  <a:schemeClr val="dk1"/>
                </a:solidFill>
                <a:latin typeface="Calibri"/>
                <a:ea typeface="Calibri"/>
                <a:cs typeface="Calibri"/>
                <a:sym typeface="Calibri"/>
              </a:rPr>
              <a:t>Potential to evolve into an AI-powered research intelligence and innovation assistant.</a:t>
            </a:r>
            <a:endParaRPr sz="1800">
              <a:solidFill>
                <a:schemeClr val="dk1"/>
              </a:solidFill>
              <a:latin typeface="Calibri"/>
              <a:ea typeface="Calibri"/>
              <a:cs typeface="Calibri"/>
              <a:sym typeface="Calibri"/>
            </a:endParaRPr>
          </a:p>
        </p:txBody>
      </p:sp>
      <p:sp>
        <p:nvSpPr>
          <p:cNvPr id="163" name="Google Shape;163;p7"/>
          <p:cNvSpPr txBox="1"/>
          <p:nvPr/>
        </p:nvSpPr>
        <p:spPr>
          <a:xfrm>
            <a:off x="6838171" y="4052279"/>
            <a:ext cx="2760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8"/>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8"/>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72" name="Google Shape;172;p8"/>
          <p:cNvSpPr/>
          <p:nvPr/>
        </p:nvSpPr>
        <p:spPr>
          <a:xfrm>
            <a:off x="609600" y="479301"/>
            <a:ext cx="10972800" cy="85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Differentiation</a:t>
            </a:r>
            <a:endParaRPr sz="4267">
              <a:solidFill>
                <a:schemeClr val="dk1"/>
              </a:solidFill>
              <a:latin typeface="Calibri"/>
              <a:ea typeface="Calibri"/>
              <a:cs typeface="Calibri"/>
              <a:sym typeface="Calibri"/>
            </a:endParaRPr>
          </a:p>
        </p:txBody>
      </p:sp>
      <p:sp>
        <p:nvSpPr>
          <p:cNvPr id="173" name="Google Shape;173;p8"/>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174" name="Google Shape;174;p8"/>
          <p:cNvSpPr txBox="1"/>
          <p:nvPr/>
        </p:nvSpPr>
        <p:spPr>
          <a:xfrm>
            <a:off x="541218" y="1256859"/>
            <a:ext cx="11423700" cy="136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IN" sz="1800">
                <a:solidFill>
                  <a:schemeClr val="dk1"/>
                </a:solidFill>
                <a:latin typeface="Calibri"/>
                <a:ea typeface="Calibri"/>
                <a:cs typeface="Calibri"/>
                <a:sym typeface="Calibri"/>
              </a:rPr>
              <a:t>Why Our Solution Stands Out</a:t>
            </a:r>
            <a:endParaRPr b="1" sz="1800">
              <a:solidFill>
                <a:schemeClr val="dk1"/>
              </a:solidFill>
              <a:latin typeface="Calibri"/>
              <a:ea typeface="Calibri"/>
              <a:cs typeface="Calibri"/>
              <a:sym typeface="Calibri"/>
            </a:endParaRPr>
          </a:p>
          <a:p>
            <a:pPr indent="-317500" lvl="0" marL="457200" rtl="0" algn="l">
              <a:lnSpc>
                <a:spcPct val="115000"/>
              </a:lnSpc>
              <a:spcBef>
                <a:spcPts val="1200"/>
              </a:spcBef>
              <a:spcAft>
                <a:spcPts val="0"/>
              </a:spcAft>
              <a:buClr>
                <a:schemeClr val="dk1"/>
              </a:buClr>
              <a:buSzPts val="1400"/>
              <a:buFont typeface="Calibri"/>
              <a:buChar char="●"/>
            </a:pPr>
            <a:r>
              <a:rPr lang="en-IN">
                <a:solidFill>
                  <a:schemeClr val="dk1"/>
                </a:solidFill>
                <a:latin typeface="Calibri"/>
                <a:ea typeface="Calibri"/>
                <a:cs typeface="Calibri"/>
                <a:sym typeface="Calibri"/>
              </a:rPr>
              <a:t>Goes beyond paper search and summarization by identifying unexplored research gaps and innovation opportunities</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Uses a multi-agent AI workflow where specialized agents collaboratively analyze, connect, and reason over research data</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Combines research analysis, relationship mapping, gap detection, and idea generation into one intelligent platform</a:t>
            </a:r>
            <a:endParaRPr>
              <a:solidFill>
                <a:schemeClr val="dk1"/>
              </a:solidFill>
              <a:latin typeface="Calibri"/>
              <a:ea typeface="Calibri"/>
              <a:cs typeface="Calibri"/>
              <a:sym typeface="Calibri"/>
            </a:endParaRPr>
          </a:p>
        </p:txBody>
      </p:sp>
      <p:sp>
        <p:nvSpPr>
          <p:cNvPr id="175" name="Google Shape;175;p8"/>
          <p:cNvSpPr txBox="1"/>
          <p:nvPr/>
        </p:nvSpPr>
        <p:spPr>
          <a:xfrm>
            <a:off x="527564" y="2641146"/>
            <a:ext cx="11582400" cy="424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IN" sz="1800">
                <a:solidFill>
                  <a:schemeClr val="dk1"/>
                </a:solidFill>
                <a:latin typeface="Calibri"/>
                <a:ea typeface="Calibri"/>
                <a:cs typeface="Calibri"/>
                <a:sym typeface="Calibri"/>
              </a:rPr>
              <a:t>Strong MOAT 1 — Autonomous Research Gap Discovery</a:t>
            </a:r>
            <a:endParaRPr b="1" sz="18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IN">
                <a:solidFill>
                  <a:schemeClr val="dk1"/>
                </a:solidFill>
                <a:latin typeface="Calibri"/>
                <a:ea typeface="Calibri"/>
                <a:cs typeface="Calibri"/>
                <a:sym typeface="Calibri"/>
              </a:rPr>
              <a:t>Our platform continuously analyzes relationships between papers, concepts, and domains to detect underexplored opportunities and missing research connections.</a:t>
            </a:r>
            <a:endParaRPr>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IN">
                <a:solidFill>
                  <a:schemeClr val="dk1"/>
                </a:solidFill>
                <a:latin typeface="Calibri"/>
                <a:ea typeface="Calibri"/>
                <a:cs typeface="Calibri"/>
                <a:sym typeface="Calibri"/>
              </a:rPr>
              <a:t>This transforms research from passive information consumption into active innovation discovery.</a:t>
            </a:r>
            <a:endParaRPr>
              <a:solidFill>
                <a:schemeClr val="dk1"/>
              </a:solidFill>
              <a:latin typeface="Calibri"/>
              <a:ea typeface="Calibri"/>
              <a:cs typeface="Calibri"/>
              <a:sym typeface="Calibri"/>
            </a:endParaRPr>
          </a:p>
          <a:p>
            <a:pPr indent="0" lvl="0" marL="0" rtl="0" algn="l">
              <a:lnSpc>
                <a:spcPct val="115000"/>
              </a:lnSpc>
              <a:spcBef>
                <a:spcPts val="2400"/>
              </a:spcBef>
              <a:spcAft>
                <a:spcPts val="0"/>
              </a:spcAft>
              <a:buNone/>
            </a:pPr>
            <a:r>
              <a:rPr b="1" lang="en-IN" sz="1800">
                <a:solidFill>
                  <a:schemeClr val="dk1"/>
                </a:solidFill>
                <a:latin typeface="Calibri"/>
                <a:ea typeface="Calibri"/>
                <a:cs typeface="Calibri"/>
                <a:sym typeface="Calibri"/>
              </a:rPr>
              <a:t>Strong MOAT 2 — OpenClaw-Inspired Multi-Agent Intelligence</a:t>
            </a:r>
            <a:endParaRPr b="1"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IN">
                <a:solidFill>
                  <a:schemeClr val="dk1"/>
                </a:solidFill>
                <a:latin typeface="Calibri"/>
                <a:ea typeface="Calibri"/>
                <a:cs typeface="Calibri"/>
                <a:sym typeface="Calibri"/>
              </a:rPr>
              <a:t>Instead of relying on a single AI response, multiple specialized agents collaborate through a shared orchestration pipeline for:</a:t>
            </a:r>
            <a:endParaRPr>
              <a:solidFill>
                <a:schemeClr val="dk1"/>
              </a:solidFill>
              <a:latin typeface="Calibri"/>
              <a:ea typeface="Calibri"/>
              <a:cs typeface="Calibri"/>
              <a:sym typeface="Calibri"/>
            </a:endParaRPr>
          </a:p>
          <a:p>
            <a:pPr indent="-317500" lvl="0" marL="457200" rtl="0" algn="l">
              <a:lnSpc>
                <a:spcPct val="115000"/>
              </a:lnSpc>
              <a:spcBef>
                <a:spcPts val="1200"/>
              </a:spcBef>
              <a:spcAft>
                <a:spcPts val="0"/>
              </a:spcAft>
              <a:buClr>
                <a:schemeClr val="dk1"/>
              </a:buClr>
              <a:buSzPts val="1400"/>
              <a:buFont typeface="Calibri"/>
              <a:buChar char="●"/>
            </a:pPr>
            <a:r>
              <a:rPr lang="en-IN">
                <a:solidFill>
                  <a:schemeClr val="dk1"/>
                </a:solidFill>
                <a:latin typeface="Calibri"/>
                <a:ea typeface="Calibri"/>
                <a:cs typeface="Calibri"/>
                <a:sym typeface="Calibri"/>
              </a:rPr>
              <a:t>research analysis</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relationship mapping</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gap detection</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idea generation</a:t>
            </a:r>
            <a:endParaRPr>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rPr lang="en-IN">
                <a:solidFill>
                  <a:schemeClr val="dk1"/>
                </a:solidFill>
                <a:latin typeface="Calibri"/>
                <a:ea typeface="Calibri"/>
                <a:cs typeface="Calibri"/>
                <a:sym typeface="Calibri"/>
              </a:rPr>
              <a:t>This creates deeper reasoning, more structured outputs, and a scalable research intelligence system that is difficult to replicate using traditional chatbot-based solutions.</a:t>
            </a:r>
            <a:endParaRPr>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9"/>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84" name="Google Shape;184;p9"/>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Demo Link</a:t>
            </a:r>
            <a:endParaRPr sz="4267">
              <a:solidFill>
                <a:schemeClr val="dk1"/>
              </a:solidFill>
              <a:latin typeface="Calibri"/>
              <a:ea typeface="Calibri"/>
              <a:cs typeface="Calibri"/>
              <a:sym typeface="Calibri"/>
            </a:endParaRPr>
          </a:p>
        </p:txBody>
      </p:sp>
      <p:sp>
        <p:nvSpPr>
          <p:cNvPr id="185" name="Google Shape;185;p9"/>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186" name="Google Shape;186;p9"/>
          <p:cNvSpPr txBox="1"/>
          <p:nvPr/>
        </p:nvSpPr>
        <p:spPr>
          <a:xfrm>
            <a:off x="740502" y="1682950"/>
            <a:ext cx="8019300" cy="147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GitHub Repo - </a:t>
            </a:r>
            <a:r>
              <a:rPr lang="en-IN" sz="1800" u="sng">
                <a:solidFill>
                  <a:schemeClr val="hlink"/>
                </a:solidFill>
                <a:latin typeface="Calibri"/>
                <a:ea typeface="Calibri"/>
                <a:cs typeface="Calibri"/>
                <a:sym typeface="Calibri"/>
                <a:hlinkClick r:id="rId3"/>
              </a:rPr>
              <a:t>https://github.com/Nishka-kotadia/bytesizedbrains</a:t>
            </a: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Demo Link - </a:t>
            </a:r>
            <a:r>
              <a:rPr lang="en-IN" sz="1800" u="sng">
                <a:solidFill>
                  <a:schemeClr val="hlink"/>
                </a:solidFill>
                <a:latin typeface="Calibri"/>
                <a:ea typeface="Calibri"/>
                <a:cs typeface="Calibri"/>
                <a:sym typeface="Calibri"/>
                <a:hlinkClick r:id="rId4"/>
              </a:rPr>
              <a:t>https://youtu.be/rVe3hUxbCJ8</a:t>
            </a: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Document submitted - </a:t>
            </a:r>
            <a:r>
              <a:rPr lang="en-IN" sz="1800" u="sng">
                <a:solidFill>
                  <a:schemeClr val="hlink"/>
                </a:solidFill>
                <a:latin typeface="Calibri"/>
                <a:ea typeface="Calibri"/>
                <a:cs typeface="Calibri"/>
                <a:sym typeface="Calibri"/>
                <a:hlinkClick r:id="rId5"/>
              </a:rPr>
              <a:t>https://docs.google.com/document/d/16ycUz44yu1Jc-O8KV4v_vRTKW1qv7_Idta3h94KF_ew/edit?usp=sharing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2026-04-27T09:11:02Z</dcterms:created>
  <dc:creator>Prakhar Chandrakar ./PRISM /SRI-Bangalore/Professional/Samsung Electronics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